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11"/>
  </p:notesMasterIdLst>
  <p:sldIdLst>
    <p:sldId id="270" r:id="rId2"/>
    <p:sldId id="271" r:id="rId3"/>
    <p:sldId id="268" r:id="rId4"/>
    <p:sldId id="276" r:id="rId5"/>
    <p:sldId id="266" r:id="rId6"/>
    <p:sldId id="274" r:id="rId7"/>
    <p:sldId id="275" r:id="rId8"/>
    <p:sldId id="27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2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F91FAA-ED6C-4B2F-834E-4549E65408AE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CD0513E-CFA2-4028-AA6F-74B80AF906D6}">
      <dgm:prSet/>
      <dgm:spPr/>
      <dgm:t>
        <a:bodyPr/>
        <a:lstStyle/>
        <a:p>
          <a:r>
            <a:rPr lang="es-EC" dirty="0"/>
            <a:t>INTRODUCTION </a:t>
          </a:r>
        </a:p>
      </dgm:t>
    </dgm:pt>
    <dgm:pt modelId="{8678F669-B9F6-4021-9514-4C92E4F5F2D7}" type="parTrans" cxnId="{2F6614D1-F879-4EF0-8D8F-D5DC1650839D}">
      <dgm:prSet/>
      <dgm:spPr/>
      <dgm:t>
        <a:bodyPr/>
        <a:lstStyle/>
        <a:p>
          <a:endParaRPr lang="en-US"/>
        </a:p>
      </dgm:t>
    </dgm:pt>
    <dgm:pt modelId="{29BF9B99-272E-4C49-BE39-21A11461F00E}" type="sibTrans" cxnId="{2F6614D1-F879-4EF0-8D8F-D5DC1650839D}">
      <dgm:prSet/>
      <dgm:spPr/>
      <dgm:t>
        <a:bodyPr/>
        <a:lstStyle/>
        <a:p>
          <a:endParaRPr lang="en-US"/>
        </a:p>
      </dgm:t>
    </dgm:pt>
    <dgm:pt modelId="{88D64DD5-E83E-4BC5-857D-CA22DBD76003}">
      <dgm:prSet/>
      <dgm:spPr/>
      <dgm:t>
        <a:bodyPr/>
        <a:lstStyle/>
        <a:p>
          <a:r>
            <a:rPr lang="en-US" dirty="0"/>
            <a:t>PROBLEM EXPLANATION</a:t>
          </a:r>
        </a:p>
      </dgm:t>
    </dgm:pt>
    <dgm:pt modelId="{9D070533-CCD2-40D9-8B24-05FE84831702}" type="parTrans" cxnId="{541649F0-E783-426A-A941-198FAF0A1949}">
      <dgm:prSet/>
      <dgm:spPr/>
      <dgm:t>
        <a:bodyPr/>
        <a:lstStyle/>
        <a:p>
          <a:endParaRPr lang="en-US"/>
        </a:p>
      </dgm:t>
    </dgm:pt>
    <dgm:pt modelId="{4D1CA81B-94BB-48CD-95CA-0236BA08705B}" type="sibTrans" cxnId="{541649F0-E783-426A-A941-198FAF0A1949}">
      <dgm:prSet/>
      <dgm:spPr/>
      <dgm:t>
        <a:bodyPr/>
        <a:lstStyle/>
        <a:p>
          <a:endParaRPr lang="en-US"/>
        </a:p>
      </dgm:t>
    </dgm:pt>
    <dgm:pt modelId="{982F63D3-7014-4469-8631-DAAAFCC516F7}">
      <dgm:prSet/>
      <dgm:spPr/>
      <dgm:t>
        <a:bodyPr/>
        <a:lstStyle/>
        <a:p>
          <a:r>
            <a:rPr lang="es-EC" dirty="0"/>
            <a:t>PROPOSED SOLUTIONS</a:t>
          </a:r>
          <a:endParaRPr lang="en-US" dirty="0"/>
        </a:p>
      </dgm:t>
    </dgm:pt>
    <dgm:pt modelId="{EAC9AA3C-8396-42DE-81F7-949F506DB9E8}" type="parTrans" cxnId="{DAD317C5-46C8-4DDB-8658-A3C21447FBAC}">
      <dgm:prSet/>
      <dgm:spPr/>
      <dgm:t>
        <a:bodyPr/>
        <a:lstStyle/>
        <a:p>
          <a:endParaRPr lang="en-US"/>
        </a:p>
      </dgm:t>
    </dgm:pt>
    <dgm:pt modelId="{D1317B9B-E669-463F-AC08-F717217D6985}" type="sibTrans" cxnId="{DAD317C5-46C8-4DDB-8658-A3C21447FBAC}">
      <dgm:prSet/>
      <dgm:spPr/>
      <dgm:t>
        <a:bodyPr/>
        <a:lstStyle/>
        <a:p>
          <a:endParaRPr lang="en-US"/>
        </a:p>
      </dgm:t>
    </dgm:pt>
    <dgm:pt modelId="{B56ABF21-BF72-4C5E-8679-5B5B3D2A97B0}">
      <dgm:prSet/>
      <dgm:spPr/>
      <dgm:t>
        <a:bodyPr/>
        <a:lstStyle/>
        <a:p>
          <a:r>
            <a:rPr lang="es-EC" dirty="0"/>
            <a:t>CLOSING </a:t>
          </a:r>
          <a:endParaRPr lang="en-US" dirty="0"/>
        </a:p>
      </dgm:t>
    </dgm:pt>
    <dgm:pt modelId="{40C38973-8BB1-4438-A665-1ECCA715ED75}" type="parTrans" cxnId="{EC3E1273-8559-4095-B0FE-3B520B96595D}">
      <dgm:prSet/>
      <dgm:spPr/>
      <dgm:t>
        <a:bodyPr/>
        <a:lstStyle/>
        <a:p>
          <a:endParaRPr lang="en-US"/>
        </a:p>
      </dgm:t>
    </dgm:pt>
    <dgm:pt modelId="{A70CBE92-5C21-4351-9DE4-1F8F3F94F9DC}" type="sibTrans" cxnId="{EC3E1273-8559-4095-B0FE-3B520B96595D}">
      <dgm:prSet/>
      <dgm:spPr/>
      <dgm:t>
        <a:bodyPr/>
        <a:lstStyle/>
        <a:p>
          <a:endParaRPr lang="en-US"/>
        </a:p>
      </dgm:t>
    </dgm:pt>
    <dgm:pt modelId="{B6544880-1C6A-4DB9-A821-D4B5B55DD519}" type="pres">
      <dgm:prSet presAssocID="{D7F91FAA-ED6C-4B2F-834E-4549E65408AE}" presName="vert0" presStyleCnt="0">
        <dgm:presLayoutVars>
          <dgm:dir/>
          <dgm:animOne val="branch"/>
          <dgm:animLvl val="lvl"/>
        </dgm:presLayoutVars>
      </dgm:prSet>
      <dgm:spPr/>
    </dgm:pt>
    <dgm:pt modelId="{774D1E32-6E90-487E-9EC8-657BBDBEA293}" type="pres">
      <dgm:prSet presAssocID="{ACD0513E-CFA2-4028-AA6F-74B80AF906D6}" presName="thickLine" presStyleLbl="alignNode1" presStyleIdx="0" presStyleCnt="4"/>
      <dgm:spPr/>
    </dgm:pt>
    <dgm:pt modelId="{BB4AAD76-EB43-484E-8422-6C1DF9F0477B}" type="pres">
      <dgm:prSet presAssocID="{ACD0513E-CFA2-4028-AA6F-74B80AF906D6}" presName="horz1" presStyleCnt="0"/>
      <dgm:spPr/>
    </dgm:pt>
    <dgm:pt modelId="{D678116C-CC73-4709-AF62-86FDC26E6AD0}" type="pres">
      <dgm:prSet presAssocID="{ACD0513E-CFA2-4028-AA6F-74B80AF906D6}" presName="tx1" presStyleLbl="revTx" presStyleIdx="0" presStyleCnt="4"/>
      <dgm:spPr/>
    </dgm:pt>
    <dgm:pt modelId="{312CC4D1-8D60-460C-BB05-CF792F57EB40}" type="pres">
      <dgm:prSet presAssocID="{ACD0513E-CFA2-4028-AA6F-74B80AF906D6}" presName="vert1" presStyleCnt="0"/>
      <dgm:spPr/>
    </dgm:pt>
    <dgm:pt modelId="{510BE9D7-130D-4B20-84F9-1D508230F8FA}" type="pres">
      <dgm:prSet presAssocID="{88D64DD5-E83E-4BC5-857D-CA22DBD76003}" presName="thickLine" presStyleLbl="alignNode1" presStyleIdx="1" presStyleCnt="4"/>
      <dgm:spPr/>
    </dgm:pt>
    <dgm:pt modelId="{3A3C11D0-7F5A-4684-B96D-3DC1DA6C8FF6}" type="pres">
      <dgm:prSet presAssocID="{88D64DD5-E83E-4BC5-857D-CA22DBD76003}" presName="horz1" presStyleCnt="0"/>
      <dgm:spPr/>
    </dgm:pt>
    <dgm:pt modelId="{07F6114C-AA91-483D-86AF-909A1DD609EA}" type="pres">
      <dgm:prSet presAssocID="{88D64DD5-E83E-4BC5-857D-CA22DBD76003}" presName="tx1" presStyleLbl="revTx" presStyleIdx="1" presStyleCnt="4"/>
      <dgm:spPr/>
    </dgm:pt>
    <dgm:pt modelId="{3B961257-96B1-4716-90DC-220DEA995103}" type="pres">
      <dgm:prSet presAssocID="{88D64DD5-E83E-4BC5-857D-CA22DBD76003}" presName="vert1" presStyleCnt="0"/>
      <dgm:spPr/>
    </dgm:pt>
    <dgm:pt modelId="{F76ED18D-7B56-4B70-85E6-95782FCF01A1}" type="pres">
      <dgm:prSet presAssocID="{982F63D3-7014-4469-8631-DAAAFCC516F7}" presName="thickLine" presStyleLbl="alignNode1" presStyleIdx="2" presStyleCnt="4"/>
      <dgm:spPr/>
    </dgm:pt>
    <dgm:pt modelId="{789CF066-28FF-4843-9B61-BE34F6C2E8C7}" type="pres">
      <dgm:prSet presAssocID="{982F63D3-7014-4469-8631-DAAAFCC516F7}" presName="horz1" presStyleCnt="0"/>
      <dgm:spPr/>
    </dgm:pt>
    <dgm:pt modelId="{38221DC5-0263-4F60-9DCF-68926AA90817}" type="pres">
      <dgm:prSet presAssocID="{982F63D3-7014-4469-8631-DAAAFCC516F7}" presName="tx1" presStyleLbl="revTx" presStyleIdx="2" presStyleCnt="4"/>
      <dgm:spPr/>
    </dgm:pt>
    <dgm:pt modelId="{F81C5DC6-4F95-479A-9825-FC22163A41C2}" type="pres">
      <dgm:prSet presAssocID="{982F63D3-7014-4469-8631-DAAAFCC516F7}" presName="vert1" presStyleCnt="0"/>
      <dgm:spPr/>
    </dgm:pt>
    <dgm:pt modelId="{C13E7BE9-6666-4A3A-B2D9-681C9EDA4EA2}" type="pres">
      <dgm:prSet presAssocID="{B56ABF21-BF72-4C5E-8679-5B5B3D2A97B0}" presName="thickLine" presStyleLbl="alignNode1" presStyleIdx="3" presStyleCnt="4"/>
      <dgm:spPr/>
    </dgm:pt>
    <dgm:pt modelId="{9408FC1E-7CE9-40F2-BDBE-5287040E816C}" type="pres">
      <dgm:prSet presAssocID="{B56ABF21-BF72-4C5E-8679-5B5B3D2A97B0}" presName="horz1" presStyleCnt="0"/>
      <dgm:spPr/>
    </dgm:pt>
    <dgm:pt modelId="{F776D1D6-2CC2-4B29-B215-BB832DEEF7A9}" type="pres">
      <dgm:prSet presAssocID="{B56ABF21-BF72-4C5E-8679-5B5B3D2A97B0}" presName="tx1" presStyleLbl="revTx" presStyleIdx="3" presStyleCnt="4"/>
      <dgm:spPr/>
    </dgm:pt>
    <dgm:pt modelId="{7737286A-70B1-4F64-AB63-57E371A1631B}" type="pres">
      <dgm:prSet presAssocID="{B56ABF21-BF72-4C5E-8679-5B5B3D2A97B0}" presName="vert1" presStyleCnt="0"/>
      <dgm:spPr/>
    </dgm:pt>
  </dgm:ptLst>
  <dgm:cxnLst>
    <dgm:cxn modelId="{DC17C52C-85CE-45FC-B49F-630A9F8E9F27}" type="presOf" srcId="{D7F91FAA-ED6C-4B2F-834E-4549E65408AE}" destId="{B6544880-1C6A-4DB9-A821-D4B5B55DD519}" srcOrd="0" destOrd="0" presId="urn:microsoft.com/office/officeart/2008/layout/LinedList"/>
    <dgm:cxn modelId="{A7A83443-0476-4DB1-A28D-84BA1BE8BACA}" type="presOf" srcId="{B56ABF21-BF72-4C5E-8679-5B5B3D2A97B0}" destId="{F776D1D6-2CC2-4B29-B215-BB832DEEF7A9}" srcOrd="0" destOrd="0" presId="urn:microsoft.com/office/officeart/2008/layout/LinedList"/>
    <dgm:cxn modelId="{EC3E1273-8559-4095-B0FE-3B520B96595D}" srcId="{D7F91FAA-ED6C-4B2F-834E-4549E65408AE}" destId="{B56ABF21-BF72-4C5E-8679-5B5B3D2A97B0}" srcOrd="3" destOrd="0" parTransId="{40C38973-8BB1-4438-A665-1ECCA715ED75}" sibTransId="{A70CBE92-5C21-4351-9DE4-1F8F3F94F9DC}"/>
    <dgm:cxn modelId="{C752C756-A930-4021-BB22-3D2A048BC607}" type="presOf" srcId="{ACD0513E-CFA2-4028-AA6F-74B80AF906D6}" destId="{D678116C-CC73-4709-AF62-86FDC26E6AD0}" srcOrd="0" destOrd="0" presId="urn:microsoft.com/office/officeart/2008/layout/LinedList"/>
    <dgm:cxn modelId="{5524F2A5-AF20-41F5-8CED-A5BAEE293B5B}" type="presOf" srcId="{88D64DD5-E83E-4BC5-857D-CA22DBD76003}" destId="{07F6114C-AA91-483D-86AF-909A1DD609EA}" srcOrd="0" destOrd="0" presId="urn:microsoft.com/office/officeart/2008/layout/LinedList"/>
    <dgm:cxn modelId="{13EBEABD-250E-43E5-8B84-BC435644B86B}" type="presOf" srcId="{982F63D3-7014-4469-8631-DAAAFCC516F7}" destId="{38221DC5-0263-4F60-9DCF-68926AA90817}" srcOrd="0" destOrd="0" presId="urn:microsoft.com/office/officeart/2008/layout/LinedList"/>
    <dgm:cxn modelId="{DAD317C5-46C8-4DDB-8658-A3C21447FBAC}" srcId="{D7F91FAA-ED6C-4B2F-834E-4549E65408AE}" destId="{982F63D3-7014-4469-8631-DAAAFCC516F7}" srcOrd="2" destOrd="0" parTransId="{EAC9AA3C-8396-42DE-81F7-949F506DB9E8}" sibTransId="{D1317B9B-E669-463F-AC08-F717217D6985}"/>
    <dgm:cxn modelId="{2F6614D1-F879-4EF0-8D8F-D5DC1650839D}" srcId="{D7F91FAA-ED6C-4B2F-834E-4549E65408AE}" destId="{ACD0513E-CFA2-4028-AA6F-74B80AF906D6}" srcOrd="0" destOrd="0" parTransId="{8678F669-B9F6-4021-9514-4C92E4F5F2D7}" sibTransId="{29BF9B99-272E-4C49-BE39-21A11461F00E}"/>
    <dgm:cxn modelId="{541649F0-E783-426A-A941-198FAF0A1949}" srcId="{D7F91FAA-ED6C-4B2F-834E-4549E65408AE}" destId="{88D64DD5-E83E-4BC5-857D-CA22DBD76003}" srcOrd="1" destOrd="0" parTransId="{9D070533-CCD2-40D9-8B24-05FE84831702}" sibTransId="{4D1CA81B-94BB-48CD-95CA-0236BA08705B}"/>
    <dgm:cxn modelId="{05B700C5-3023-4CE9-8B54-809208CB2EDC}" type="presParOf" srcId="{B6544880-1C6A-4DB9-A821-D4B5B55DD519}" destId="{774D1E32-6E90-487E-9EC8-657BBDBEA293}" srcOrd="0" destOrd="0" presId="urn:microsoft.com/office/officeart/2008/layout/LinedList"/>
    <dgm:cxn modelId="{DDB12A49-FFD5-4986-89D9-EC4E9A2E522E}" type="presParOf" srcId="{B6544880-1C6A-4DB9-A821-D4B5B55DD519}" destId="{BB4AAD76-EB43-484E-8422-6C1DF9F0477B}" srcOrd="1" destOrd="0" presId="urn:microsoft.com/office/officeart/2008/layout/LinedList"/>
    <dgm:cxn modelId="{F89F1A5B-EAA8-4179-9274-50E48F83AF6B}" type="presParOf" srcId="{BB4AAD76-EB43-484E-8422-6C1DF9F0477B}" destId="{D678116C-CC73-4709-AF62-86FDC26E6AD0}" srcOrd="0" destOrd="0" presId="urn:microsoft.com/office/officeart/2008/layout/LinedList"/>
    <dgm:cxn modelId="{4D55DF10-91D3-479D-8A9D-F2A1E8071EEA}" type="presParOf" srcId="{BB4AAD76-EB43-484E-8422-6C1DF9F0477B}" destId="{312CC4D1-8D60-460C-BB05-CF792F57EB40}" srcOrd="1" destOrd="0" presId="urn:microsoft.com/office/officeart/2008/layout/LinedList"/>
    <dgm:cxn modelId="{AF9EC5F4-BAFD-4F8A-B2AF-B7ADBC28DB53}" type="presParOf" srcId="{B6544880-1C6A-4DB9-A821-D4B5B55DD519}" destId="{510BE9D7-130D-4B20-84F9-1D508230F8FA}" srcOrd="2" destOrd="0" presId="urn:microsoft.com/office/officeart/2008/layout/LinedList"/>
    <dgm:cxn modelId="{B7303C24-C60D-47CC-BB74-7F28570D22B5}" type="presParOf" srcId="{B6544880-1C6A-4DB9-A821-D4B5B55DD519}" destId="{3A3C11D0-7F5A-4684-B96D-3DC1DA6C8FF6}" srcOrd="3" destOrd="0" presId="urn:microsoft.com/office/officeart/2008/layout/LinedList"/>
    <dgm:cxn modelId="{5C7AC784-EC98-43C3-AAB6-609DF8F30009}" type="presParOf" srcId="{3A3C11D0-7F5A-4684-B96D-3DC1DA6C8FF6}" destId="{07F6114C-AA91-483D-86AF-909A1DD609EA}" srcOrd="0" destOrd="0" presId="urn:microsoft.com/office/officeart/2008/layout/LinedList"/>
    <dgm:cxn modelId="{DDEBC43D-2678-47CC-8D3F-71E5087938C6}" type="presParOf" srcId="{3A3C11D0-7F5A-4684-B96D-3DC1DA6C8FF6}" destId="{3B961257-96B1-4716-90DC-220DEA995103}" srcOrd="1" destOrd="0" presId="urn:microsoft.com/office/officeart/2008/layout/LinedList"/>
    <dgm:cxn modelId="{EFA53DE9-A23A-4832-A1FF-396838A0AEDD}" type="presParOf" srcId="{B6544880-1C6A-4DB9-A821-D4B5B55DD519}" destId="{F76ED18D-7B56-4B70-85E6-95782FCF01A1}" srcOrd="4" destOrd="0" presId="urn:microsoft.com/office/officeart/2008/layout/LinedList"/>
    <dgm:cxn modelId="{56C9BCAA-C49D-46D7-9BA1-C4069B838728}" type="presParOf" srcId="{B6544880-1C6A-4DB9-A821-D4B5B55DD519}" destId="{789CF066-28FF-4843-9B61-BE34F6C2E8C7}" srcOrd="5" destOrd="0" presId="urn:microsoft.com/office/officeart/2008/layout/LinedList"/>
    <dgm:cxn modelId="{831C9470-E2A9-4F08-B15F-048EB62C084C}" type="presParOf" srcId="{789CF066-28FF-4843-9B61-BE34F6C2E8C7}" destId="{38221DC5-0263-4F60-9DCF-68926AA90817}" srcOrd="0" destOrd="0" presId="urn:microsoft.com/office/officeart/2008/layout/LinedList"/>
    <dgm:cxn modelId="{4FBBDD26-55A7-4B7D-A9F7-E17D4D1E1E9B}" type="presParOf" srcId="{789CF066-28FF-4843-9B61-BE34F6C2E8C7}" destId="{F81C5DC6-4F95-479A-9825-FC22163A41C2}" srcOrd="1" destOrd="0" presId="urn:microsoft.com/office/officeart/2008/layout/LinedList"/>
    <dgm:cxn modelId="{44B09927-3ABD-4023-A112-C7AEC69A21E8}" type="presParOf" srcId="{B6544880-1C6A-4DB9-A821-D4B5B55DD519}" destId="{C13E7BE9-6666-4A3A-B2D9-681C9EDA4EA2}" srcOrd="6" destOrd="0" presId="urn:microsoft.com/office/officeart/2008/layout/LinedList"/>
    <dgm:cxn modelId="{8193BDEC-1A02-41EC-9B25-8B81CA39C882}" type="presParOf" srcId="{B6544880-1C6A-4DB9-A821-D4B5B55DD519}" destId="{9408FC1E-7CE9-40F2-BDBE-5287040E816C}" srcOrd="7" destOrd="0" presId="urn:microsoft.com/office/officeart/2008/layout/LinedList"/>
    <dgm:cxn modelId="{25D976FB-289E-4BFC-A66C-B7F8B2160059}" type="presParOf" srcId="{9408FC1E-7CE9-40F2-BDBE-5287040E816C}" destId="{F776D1D6-2CC2-4B29-B215-BB832DEEF7A9}" srcOrd="0" destOrd="0" presId="urn:microsoft.com/office/officeart/2008/layout/LinedList"/>
    <dgm:cxn modelId="{B705E046-273B-433E-A2E4-C45F7744AB9D}" type="presParOf" srcId="{9408FC1E-7CE9-40F2-BDBE-5287040E816C}" destId="{7737286A-70B1-4F64-AB63-57E371A1631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D1E32-6E90-487E-9EC8-657BBDBEA293}">
      <dsp:nvSpPr>
        <dsp:cNvPr id="0" name=""/>
        <dsp:cNvSpPr/>
      </dsp:nvSpPr>
      <dsp:spPr>
        <a:xfrm>
          <a:off x="0" y="0"/>
          <a:ext cx="5914209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678116C-CC73-4709-AF62-86FDC26E6AD0}">
      <dsp:nvSpPr>
        <dsp:cNvPr id="0" name=""/>
        <dsp:cNvSpPr/>
      </dsp:nvSpPr>
      <dsp:spPr>
        <a:xfrm>
          <a:off x="0" y="0"/>
          <a:ext cx="5914209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400" kern="1200" dirty="0"/>
            <a:t>INTRODUCTION </a:t>
          </a:r>
        </a:p>
      </dsp:txBody>
      <dsp:txXfrm>
        <a:off x="0" y="0"/>
        <a:ext cx="5914209" cy="1312164"/>
      </dsp:txXfrm>
    </dsp:sp>
    <dsp:sp modelId="{510BE9D7-130D-4B20-84F9-1D508230F8FA}">
      <dsp:nvSpPr>
        <dsp:cNvPr id="0" name=""/>
        <dsp:cNvSpPr/>
      </dsp:nvSpPr>
      <dsp:spPr>
        <a:xfrm>
          <a:off x="0" y="1312164"/>
          <a:ext cx="5914209" cy="0"/>
        </a:xfrm>
        <a:prstGeom prst="line">
          <a:avLst/>
        </a:prstGeom>
        <a:gradFill rotWithShape="0">
          <a:gsLst>
            <a:gs pos="0">
              <a:schemeClr val="accent2">
                <a:hueOff val="-441124"/>
                <a:satOff val="497"/>
                <a:lumOff val="1177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441124"/>
                <a:satOff val="497"/>
                <a:lumOff val="1177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2">
              <a:hueOff val="-441124"/>
              <a:satOff val="497"/>
              <a:lumOff val="1177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F6114C-AA91-483D-86AF-909A1DD609EA}">
      <dsp:nvSpPr>
        <dsp:cNvPr id="0" name=""/>
        <dsp:cNvSpPr/>
      </dsp:nvSpPr>
      <dsp:spPr>
        <a:xfrm>
          <a:off x="0" y="1312164"/>
          <a:ext cx="5914209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PROBLEM EXPLANATION</a:t>
          </a:r>
        </a:p>
      </dsp:txBody>
      <dsp:txXfrm>
        <a:off x="0" y="1312164"/>
        <a:ext cx="5914209" cy="1312164"/>
      </dsp:txXfrm>
    </dsp:sp>
    <dsp:sp modelId="{F76ED18D-7B56-4B70-85E6-95782FCF01A1}">
      <dsp:nvSpPr>
        <dsp:cNvPr id="0" name=""/>
        <dsp:cNvSpPr/>
      </dsp:nvSpPr>
      <dsp:spPr>
        <a:xfrm>
          <a:off x="0" y="2624328"/>
          <a:ext cx="5914209" cy="0"/>
        </a:xfrm>
        <a:prstGeom prst="line">
          <a:avLst/>
        </a:prstGeom>
        <a:gradFill rotWithShape="0">
          <a:gsLst>
            <a:gs pos="0">
              <a:schemeClr val="accent2">
                <a:hueOff val="-882249"/>
                <a:satOff val="995"/>
                <a:lumOff val="2353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882249"/>
                <a:satOff val="995"/>
                <a:lumOff val="2353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2">
              <a:hueOff val="-882249"/>
              <a:satOff val="995"/>
              <a:lumOff val="2353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221DC5-0263-4F60-9DCF-68926AA90817}">
      <dsp:nvSpPr>
        <dsp:cNvPr id="0" name=""/>
        <dsp:cNvSpPr/>
      </dsp:nvSpPr>
      <dsp:spPr>
        <a:xfrm>
          <a:off x="0" y="2624328"/>
          <a:ext cx="5914209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400" kern="1200" dirty="0"/>
            <a:t>PROPOSED SOLUTIONS</a:t>
          </a:r>
          <a:endParaRPr lang="en-US" sz="4400" kern="1200" dirty="0"/>
        </a:p>
      </dsp:txBody>
      <dsp:txXfrm>
        <a:off x="0" y="2624328"/>
        <a:ext cx="5914209" cy="1312164"/>
      </dsp:txXfrm>
    </dsp:sp>
    <dsp:sp modelId="{C13E7BE9-6666-4A3A-B2D9-681C9EDA4EA2}">
      <dsp:nvSpPr>
        <dsp:cNvPr id="0" name=""/>
        <dsp:cNvSpPr/>
      </dsp:nvSpPr>
      <dsp:spPr>
        <a:xfrm>
          <a:off x="0" y="3936492"/>
          <a:ext cx="5914209" cy="0"/>
        </a:xfrm>
        <a:prstGeom prst="line">
          <a:avLst/>
        </a:prstGeom>
        <a:gradFill rotWithShape="0">
          <a:gsLst>
            <a:gs pos="0">
              <a:schemeClr val="accent2">
                <a:hueOff val="-1323373"/>
                <a:satOff val="1492"/>
                <a:lumOff val="353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2">
                <a:hueOff val="-1323373"/>
                <a:satOff val="1492"/>
                <a:lumOff val="353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76D1D6-2CC2-4B29-B215-BB832DEEF7A9}">
      <dsp:nvSpPr>
        <dsp:cNvPr id="0" name=""/>
        <dsp:cNvSpPr/>
      </dsp:nvSpPr>
      <dsp:spPr>
        <a:xfrm>
          <a:off x="0" y="3936492"/>
          <a:ext cx="5914209" cy="1312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C" sz="4400" kern="1200" dirty="0"/>
            <a:t>CLOSING </a:t>
          </a:r>
          <a:endParaRPr lang="en-US" sz="4400" kern="1200" dirty="0"/>
        </a:p>
      </dsp:txBody>
      <dsp:txXfrm>
        <a:off x="0" y="3936492"/>
        <a:ext cx="5914209" cy="13121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1071E0-407D-4C52-94B0-68AA5F7BCA59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6DC92-7130-438E-998C-41523FB9E69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757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88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4150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968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557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25642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2350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7420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166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11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185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85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E886061-2266-455D-9DCD-D3A2F1885E87}" type="datetimeFigureOut">
              <a:rPr lang="es-EC" smtClean="0"/>
              <a:t>17/3/2025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838B25-C2DB-47F1-B4AD-4CD785DE759E}" type="slidenum">
              <a:rPr lang="es-EC" smtClean="0"/>
              <a:t>‹Nº›</a:t>
            </a:fld>
            <a:endParaRPr lang="es-EC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9128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489510" y="4659229"/>
            <a:ext cx="8865866" cy="1751308"/>
          </a:xfrm>
        </p:spPr>
        <p:txBody>
          <a:bodyPr>
            <a:noAutofit/>
          </a:bodyPr>
          <a:lstStyle/>
          <a:p>
            <a:r>
              <a:rPr lang="es-EC" sz="4000" b="1" dirty="0"/>
              <a:t>PREPARING YOUR ORAL PRESENTATION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33779" y="5761073"/>
            <a:ext cx="7665156" cy="434974"/>
          </a:xfrm>
        </p:spPr>
        <p:txBody>
          <a:bodyPr>
            <a:normAutofit fontScale="92500"/>
          </a:bodyPr>
          <a:lstStyle/>
          <a:p>
            <a:r>
              <a:rPr lang="es-EC" sz="2000" dirty="0"/>
              <a:t>Guide </a:t>
            </a:r>
            <a:r>
              <a:rPr lang="es-EC" sz="2000" dirty="0" err="1"/>
              <a:t>for</a:t>
            </a:r>
            <a:r>
              <a:rPr lang="es-EC" sz="2000" dirty="0"/>
              <a:t> English III Oral </a:t>
            </a:r>
            <a:r>
              <a:rPr lang="es-EC" sz="2000" dirty="0" err="1"/>
              <a:t>Presentations</a:t>
            </a:r>
            <a:r>
              <a:rPr lang="es-EC" sz="2000" dirty="0"/>
              <a:t> </a:t>
            </a:r>
            <a:r>
              <a:rPr lang="es-EC" sz="2000" dirty="0" err="1"/>
              <a:t>Addressing</a:t>
            </a:r>
            <a:r>
              <a:rPr lang="es-EC" sz="2000" dirty="0"/>
              <a:t> a Familiar </a:t>
            </a:r>
            <a:r>
              <a:rPr lang="es-EC" sz="2000" dirty="0" err="1"/>
              <a:t>or</a:t>
            </a:r>
            <a:r>
              <a:rPr lang="es-EC" sz="2000" dirty="0"/>
              <a:t> Local </a:t>
            </a:r>
            <a:r>
              <a:rPr lang="es-EC" sz="2000" dirty="0" err="1"/>
              <a:t>Issue</a:t>
            </a:r>
            <a:endParaRPr lang="es-EC" sz="20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2C6A1F7-E7FF-4759-995F-3A73D3AFA1F2}"/>
              </a:ext>
            </a:extLst>
          </p:cNvPr>
          <p:cNvSpPr txBox="1">
            <a:spLocks/>
          </p:cNvSpPr>
          <p:nvPr/>
        </p:nvSpPr>
        <p:spPr>
          <a:xfrm>
            <a:off x="8376356" y="5840096"/>
            <a:ext cx="3759877" cy="434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C" sz="1400" i="1" dirty="0" err="1"/>
              <a:t>By</a:t>
            </a:r>
            <a:r>
              <a:rPr lang="es-EC" sz="1400" i="1" dirty="0"/>
              <a:t> Jimena Rivadeneira, MA. TEFL.</a:t>
            </a:r>
          </a:p>
        </p:txBody>
      </p:sp>
    </p:spTree>
    <p:extLst>
      <p:ext uri="{BB962C8B-B14F-4D97-AF65-F5344CB8AC3E}">
        <p14:creationId xmlns:p14="http://schemas.microsoft.com/office/powerpoint/2010/main" val="118633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599" y="1055077"/>
            <a:ext cx="3787334" cy="4794578"/>
          </a:xfrm>
        </p:spPr>
        <p:txBody>
          <a:bodyPr>
            <a:normAutofit/>
          </a:bodyPr>
          <a:lstStyle/>
          <a:p>
            <a:pPr algn="ctr"/>
            <a:r>
              <a:rPr lang="es-EC" sz="4500" b="1" spc="200" dirty="0" err="1">
                <a:solidFill>
                  <a:srgbClr val="7030A0"/>
                </a:solidFill>
              </a:rPr>
              <a:t>Presentation</a:t>
            </a:r>
            <a:r>
              <a:rPr lang="es-EC" sz="4500" b="1" spc="200" dirty="0">
                <a:solidFill>
                  <a:srgbClr val="7030A0"/>
                </a:solidFill>
              </a:rPr>
              <a:t> </a:t>
            </a:r>
            <a:r>
              <a:rPr lang="es-EC" sz="4500" b="1" spc="200" dirty="0" err="1">
                <a:solidFill>
                  <a:srgbClr val="7030A0"/>
                </a:solidFill>
              </a:rPr>
              <a:t>structure</a:t>
            </a:r>
            <a:endParaRPr lang="es-EC" sz="4500" b="1" spc="200" dirty="0">
              <a:solidFill>
                <a:srgbClr val="7030A0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D298DB7-BDC3-44D0-867B-633EADD0EC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657418"/>
              </p:ext>
            </p:extLst>
          </p:nvPr>
        </p:nvGraphicFramePr>
        <p:xfrm>
          <a:off x="5470072" y="804670"/>
          <a:ext cx="5914209" cy="5248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817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1" y="1216618"/>
            <a:ext cx="10571998" cy="97045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Useful phrases for </a:t>
            </a:r>
            <a:r>
              <a:rPr lang="en-GB" b="1" dirty="0">
                <a:solidFill>
                  <a:srgbClr val="7030A0"/>
                </a:solidFill>
              </a:rPr>
              <a:t>the opening:</a:t>
            </a:r>
            <a:br>
              <a:rPr lang="en-GB" b="1" dirty="0">
                <a:solidFill>
                  <a:srgbClr val="7030A0"/>
                </a:solidFill>
              </a:rPr>
            </a:br>
            <a:r>
              <a:rPr lang="en-GB" b="1" dirty="0">
                <a:solidFill>
                  <a:srgbClr val="7030A0"/>
                </a:solidFill>
              </a:rPr>
              <a:t>WELCOME &amp; topic presentation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557" y="2503870"/>
            <a:ext cx="10410656" cy="3812524"/>
          </a:xfrm>
        </p:spPr>
        <p:txBody>
          <a:bodyPr>
            <a:normAutofit/>
          </a:bodyPr>
          <a:lstStyle/>
          <a:p>
            <a:r>
              <a:rPr lang="en-GB" sz="2800" i="1" dirty="0"/>
              <a:t>Good afternoon dear teacher and partners. </a:t>
            </a:r>
          </a:p>
          <a:p>
            <a:r>
              <a:rPr lang="en-GB" sz="2800" i="1" dirty="0"/>
              <a:t>First of all, let me thank you for being here today. </a:t>
            </a:r>
          </a:p>
          <a:p>
            <a:r>
              <a:rPr lang="en-GB" sz="2800" i="1" dirty="0"/>
              <a:t>Let me introduce myself, I’m ………. I study….…… at ESPOL University in the Faculty of ………. </a:t>
            </a:r>
          </a:p>
          <a:p>
            <a:r>
              <a:rPr lang="en-GB" sz="2800" i="1" dirty="0"/>
              <a:t>As you can see on the screen, the topic for today’s presentation is ……..</a:t>
            </a:r>
          </a:p>
        </p:txBody>
      </p:sp>
    </p:spTree>
    <p:extLst>
      <p:ext uri="{BB962C8B-B14F-4D97-AF65-F5344CB8AC3E}">
        <p14:creationId xmlns:p14="http://schemas.microsoft.com/office/powerpoint/2010/main" val="3656555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8896" y="1455939"/>
            <a:ext cx="9469497" cy="5012594"/>
          </a:xfrm>
        </p:spPr>
        <p:txBody>
          <a:bodyPr>
            <a:noAutofit/>
          </a:bodyPr>
          <a:lstStyle/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HOOK</a:t>
            </a:r>
          </a:p>
          <a:p>
            <a:r>
              <a:rPr lang="en-GB" i="1" dirty="0"/>
              <a:t>To begin, I would like to: </a:t>
            </a:r>
          </a:p>
          <a:p>
            <a:r>
              <a:rPr lang="en-GB" i="1" dirty="0"/>
              <a:t>1) ask you… 					2) tell you a story…</a:t>
            </a:r>
          </a:p>
          <a:p>
            <a:r>
              <a:rPr lang="en-GB" i="1" dirty="0"/>
              <a:t>3)quote Virginia Woolf… 			4)present statistics on .....  </a:t>
            </a:r>
          </a:p>
          <a:p>
            <a:r>
              <a:rPr lang="en-GB" i="1" dirty="0"/>
              <a:t>5) share news about …				6) tell a joke ….		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SIGNIFICANCE</a:t>
            </a:r>
          </a:p>
          <a:p>
            <a:r>
              <a:rPr lang="en-GB" i="1" dirty="0"/>
              <a:t>My topic is particularly relevant because.….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PURPOSE</a:t>
            </a:r>
          </a:p>
          <a:p>
            <a:r>
              <a:rPr lang="en-GB" i="1" dirty="0"/>
              <a:t>The reason why I’ve addressed the issue of …… is because I want to present…..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33114B-1DD6-6D43-FD41-7504EC641EFB}"/>
              </a:ext>
            </a:extLst>
          </p:cNvPr>
          <p:cNvSpPr txBox="1">
            <a:spLocks/>
          </p:cNvSpPr>
          <p:nvPr/>
        </p:nvSpPr>
        <p:spPr>
          <a:xfrm>
            <a:off x="810000" y="230819"/>
            <a:ext cx="10953021" cy="151808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500" b="1" dirty="0"/>
              <a:t>USEFUL PHRASES FOR </a:t>
            </a:r>
            <a:r>
              <a:rPr lang="en-GB" sz="4500" b="1" dirty="0">
                <a:solidFill>
                  <a:srgbClr val="7030A0"/>
                </a:solidFill>
              </a:rPr>
              <a:t>THE INTRODUCTION</a:t>
            </a:r>
            <a:endParaRPr lang="en-GB" sz="4500" b="1" dirty="0"/>
          </a:p>
        </p:txBody>
      </p:sp>
    </p:spTree>
    <p:extLst>
      <p:ext uri="{BB962C8B-B14F-4D97-AF65-F5344CB8AC3E}">
        <p14:creationId xmlns:p14="http://schemas.microsoft.com/office/powerpoint/2010/main" val="417655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8896" y="2442125"/>
            <a:ext cx="9469497" cy="4026407"/>
          </a:xfrm>
        </p:spPr>
        <p:txBody>
          <a:bodyPr>
            <a:noAutofit/>
          </a:bodyPr>
          <a:lstStyle/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IDENTIFY THE PROBLEM</a:t>
            </a:r>
          </a:p>
          <a:p>
            <a:r>
              <a:rPr lang="en-GB" i="1" dirty="0"/>
              <a:t>Now, I’d like to share with you some background important information …. In 2007, …..   The problem arose when…. It has had a huge negative impact on……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CONSEQUENCES</a:t>
            </a:r>
          </a:p>
          <a:p>
            <a:r>
              <a:rPr lang="en-GB" i="1" dirty="0"/>
              <a:t>I also want to present the consequences of this issue:</a:t>
            </a:r>
          </a:p>
          <a:p>
            <a:r>
              <a:rPr lang="en-GB" i="1" dirty="0"/>
              <a:t>The first one is …..</a:t>
            </a:r>
          </a:p>
          <a:p>
            <a:r>
              <a:rPr lang="en-GB" i="1" dirty="0"/>
              <a:t>And the second one is …..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33114B-1DD6-6D43-FD41-7504EC641EFB}"/>
              </a:ext>
            </a:extLst>
          </p:cNvPr>
          <p:cNvSpPr txBox="1">
            <a:spLocks/>
          </p:cNvSpPr>
          <p:nvPr/>
        </p:nvSpPr>
        <p:spPr>
          <a:xfrm>
            <a:off x="810000" y="740979"/>
            <a:ext cx="10953021" cy="176573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500" b="1" dirty="0"/>
              <a:t>USEFUL PHRASES FOR </a:t>
            </a:r>
            <a:r>
              <a:rPr lang="en-GB" sz="4500" b="1" dirty="0">
                <a:solidFill>
                  <a:srgbClr val="7030A0"/>
                </a:solidFill>
              </a:rPr>
              <a:t>THE PROBLEM EXPLANATION</a:t>
            </a:r>
            <a:endParaRPr lang="en-GB" sz="4500" b="1" dirty="0"/>
          </a:p>
        </p:txBody>
      </p:sp>
    </p:spTree>
    <p:extLst>
      <p:ext uri="{BB962C8B-B14F-4D97-AF65-F5344CB8AC3E}">
        <p14:creationId xmlns:p14="http://schemas.microsoft.com/office/powerpoint/2010/main" val="594077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89" y="1365956"/>
            <a:ext cx="11334042" cy="5311422"/>
          </a:xfrm>
        </p:spPr>
        <p:txBody>
          <a:bodyPr>
            <a:noAutofit/>
          </a:bodyPr>
          <a:lstStyle/>
          <a:p>
            <a:r>
              <a:rPr lang="en-GB" sz="3900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Well, it is time to share 2 solutions I’ve come up with.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SOLUTION # 1</a:t>
            </a:r>
          </a:p>
          <a:p>
            <a:r>
              <a:rPr lang="en-GB" i="1" dirty="0"/>
              <a:t>The first solution is ..…</a:t>
            </a:r>
          </a:p>
          <a:p>
            <a:r>
              <a:rPr lang="en-GB" i="1" dirty="0"/>
              <a:t>The benefits are:…..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SOLUTION # 2</a:t>
            </a:r>
          </a:p>
          <a:p>
            <a:r>
              <a:rPr lang="en-GB" i="1" dirty="0"/>
              <a:t>The second solution has to do with …..   </a:t>
            </a:r>
          </a:p>
          <a:p>
            <a:r>
              <a:rPr lang="en-GB" i="1" dirty="0"/>
              <a:t>And the advantages are: ….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33114B-1DD6-6D43-FD41-7504EC641EFB}"/>
              </a:ext>
            </a:extLst>
          </p:cNvPr>
          <p:cNvSpPr txBox="1">
            <a:spLocks/>
          </p:cNvSpPr>
          <p:nvPr/>
        </p:nvSpPr>
        <p:spPr>
          <a:xfrm>
            <a:off x="810000" y="-214489"/>
            <a:ext cx="10953021" cy="241582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500" b="1" dirty="0"/>
              <a:t>USEFUL PHRASES FOR </a:t>
            </a:r>
            <a:r>
              <a:rPr lang="en-GB" sz="4500" b="1" dirty="0">
                <a:solidFill>
                  <a:srgbClr val="7030A0"/>
                </a:solidFill>
              </a:rPr>
              <a:t>THE PROPOSED SOLUTIONS</a:t>
            </a:r>
            <a:endParaRPr lang="en-GB" sz="4500" b="1" dirty="0"/>
          </a:p>
        </p:txBody>
      </p:sp>
    </p:spTree>
    <p:extLst>
      <p:ext uri="{BB962C8B-B14F-4D97-AF65-F5344CB8AC3E}">
        <p14:creationId xmlns:p14="http://schemas.microsoft.com/office/powerpoint/2010/main" val="228838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0000" y="1399821"/>
            <a:ext cx="10953021" cy="5458179"/>
          </a:xfrm>
        </p:spPr>
        <p:txBody>
          <a:bodyPr>
            <a:noAutofit/>
          </a:bodyPr>
          <a:lstStyle/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RECAP</a:t>
            </a:r>
          </a:p>
          <a:p>
            <a:r>
              <a:rPr lang="en-GB" i="1" dirty="0"/>
              <a:t>To recap, I’ve covered the following points so far:</a:t>
            </a:r>
          </a:p>
          <a:p>
            <a:r>
              <a:rPr lang="en-GB" i="1" dirty="0"/>
              <a:t>First, I presented the problem….    Second, I explained the solution # 1….      And finally, I shared the solution # 2 … 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CALL TO ACTION</a:t>
            </a:r>
          </a:p>
          <a:p>
            <a:r>
              <a:rPr lang="en-GB" i="1" dirty="0"/>
              <a:t>Now, I’d like to motivate you to be part of the solutions I’ve proposed. </a:t>
            </a:r>
          </a:p>
          <a:p>
            <a:r>
              <a:rPr lang="en-GB" i="1" dirty="0"/>
              <a:t>For example, you can …..</a:t>
            </a:r>
          </a:p>
          <a:p>
            <a:r>
              <a:rPr lang="en-GB" sz="3900" b="1" dirty="0">
                <a:ln w="3175" cmpd="sng">
                  <a:noFill/>
                </a:ln>
                <a:solidFill>
                  <a:srgbClr val="7030A0"/>
                </a:solidFill>
                <a:latin typeface="+mj-lt"/>
                <a:ea typeface="+mj-ea"/>
                <a:cs typeface="+mj-cs"/>
              </a:rPr>
              <a:t>CLOSING</a:t>
            </a:r>
          </a:p>
          <a:p>
            <a:r>
              <a:rPr lang="en-GB" sz="2400" i="1" dirty="0"/>
              <a:t>Finally, I’d like to thank you for listening to me today and I hope my presentation has given you a better understanding of (PROBLEM) and how to solve it (SOLUTIONS).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33114B-1DD6-6D43-FD41-7504EC641EFB}"/>
              </a:ext>
            </a:extLst>
          </p:cNvPr>
          <p:cNvSpPr txBox="1">
            <a:spLocks/>
          </p:cNvSpPr>
          <p:nvPr/>
        </p:nvSpPr>
        <p:spPr>
          <a:xfrm>
            <a:off x="810000" y="199112"/>
            <a:ext cx="10953021" cy="176573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4500" b="1" dirty="0"/>
              <a:t>USEFUL PHRASES FOR </a:t>
            </a:r>
            <a:r>
              <a:rPr lang="en-GB" sz="4500" b="1" dirty="0">
                <a:solidFill>
                  <a:srgbClr val="7030A0"/>
                </a:solidFill>
              </a:rPr>
              <a:t>THE CLOSING</a:t>
            </a:r>
            <a:endParaRPr lang="en-GB" sz="4500" b="1" dirty="0"/>
          </a:p>
        </p:txBody>
      </p:sp>
    </p:spTree>
    <p:extLst>
      <p:ext uri="{BB962C8B-B14F-4D97-AF65-F5344CB8AC3E}">
        <p14:creationId xmlns:p14="http://schemas.microsoft.com/office/powerpoint/2010/main" val="7708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C" sz="4900" b="1" cap="none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</a:rPr>
              <a:t>REMEMBER</a:t>
            </a:r>
            <a:r>
              <a:rPr lang="es-EC" sz="4800" b="1" cap="none" dirty="0">
                <a:solidFill>
                  <a:srgbClr val="7030A0"/>
                </a:solidFill>
                <a:latin typeface="Vivaldi" panose="03020602050506090804" pitchFamily="66" charset="0"/>
              </a:rPr>
              <a:t> </a:t>
            </a:r>
            <a:r>
              <a:rPr lang="es-EC" sz="4900" b="1" cap="none" dirty="0">
                <a:ln w="3175" cmpd="sng">
                  <a:noFill/>
                </a:ln>
                <a:solidFill>
                  <a:srgbClr val="7030A0"/>
                </a:solidFill>
              </a:rPr>
              <a:t>THINGS THAT MATTER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82496" y="2342271"/>
            <a:ext cx="9779190" cy="357279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s-EC" sz="2800" dirty="0"/>
              <a:t>A </a:t>
            </a:r>
            <a:r>
              <a:rPr lang="es-EC" sz="2800" dirty="0" err="1"/>
              <a:t>good</a:t>
            </a:r>
            <a:r>
              <a:rPr lang="es-EC" sz="2800" dirty="0"/>
              <a:t> </a:t>
            </a:r>
            <a:r>
              <a:rPr lang="es-EC" sz="2800" dirty="0" err="1"/>
              <a:t>pronunciation</a:t>
            </a:r>
            <a:r>
              <a:rPr lang="es-EC" sz="2800" dirty="0"/>
              <a:t> (Google the </a:t>
            </a:r>
            <a:r>
              <a:rPr lang="es-EC" sz="2800" dirty="0" err="1"/>
              <a:t>pronunciation</a:t>
            </a:r>
            <a:r>
              <a:rPr lang="es-EC" sz="2800" dirty="0"/>
              <a:t> of new </a:t>
            </a:r>
            <a:r>
              <a:rPr lang="es-EC" sz="2800" dirty="0" err="1"/>
              <a:t>words</a:t>
            </a:r>
            <a:r>
              <a:rPr lang="es-EC" sz="2800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sz="2800" dirty="0"/>
              <a:t>Good </a:t>
            </a:r>
            <a:r>
              <a:rPr lang="es-EC" sz="2800" dirty="0" err="1"/>
              <a:t>grammar</a:t>
            </a:r>
            <a:r>
              <a:rPr lang="es-EC" sz="2800" dirty="0"/>
              <a:t> and </a:t>
            </a:r>
            <a:r>
              <a:rPr lang="es-EC" sz="2800" dirty="0" err="1"/>
              <a:t>vocabulary</a:t>
            </a:r>
            <a:r>
              <a:rPr lang="es-EC" sz="2800" dirty="0"/>
              <a:t> (</a:t>
            </a:r>
            <a:r>
              <a:rPr lang="es-EC" sz="2800" dirty="0" err="1"/>
              <a:t>according</a:t>
            </a:r>
            <a:r>
              <a:rPr lang="es-EC" sz="2800" dirty="0"/>
              <a:t> to the </a:t>
            </a:r>
            <a:r>
              <a:rPr lang="es-EC" sz="2800" dirty="0" err="1"/>
              <a:t>topic</a:t>
            </a:r>
            <a:r>
              <a:rPr lang="es-EC" sz="2800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sz="2800" dirty="0" err="1"/>
              <a:t>Good</a:t>
            </a:r>
            <a:r>
              <a:rPr lang="es-EC" sz="2800" dirty="0"/>
              <a:t> </a:t>
            </a:r>
            <a:r>
              <a:rPr lang="es-EC" sz="2800" dirty="0" err="1"/>
              <a:t>content</a:t>
            </a:r>
            <a:r>
              <a:rPr lang="es-EC" sz="2800" dirty="0"/>
              <a:t> (</a:t>
            </a:r>
            <a:r>
              <a:rPr lang="es-EC" sz="2800" dirty="0" err="1"/>
              <a:t>say</a:t>
            </a:r>
            <a:r>
              <a:rPr lang="es-EC" sz="2800" dirty="0"/>
              <a:t> </a:t>
            </a:r>
            <a:r>
              <a:rPr lang="es-EC" sz="2800" dirty="0" err="1"/>
              <a:t>something</a:t>
            </a:r>
            <a:r>
              <a:rPr lang="es-EC" sz="2800" dirty="0"/>
              <a:t> </a:t>
            </a:r>
            <a:r>
              <a:rPr lang="es-EC" sz="2800" dirty="0" err="1"/>
              <a:t>interesting</a:t>
            </a:r>
            <a:r>
              <a:rPr lang="es-EC" sz="2800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sz="2800" dirty="0" err="1"/>
              <a:t>Good</a:t>
            </a:r>
            <a:r>
              <a:rPr lang="es-EC" sz="2800" dirty="0"/>
              <a:t> </a:t>
            </a:r>
            <a:r>
              <a:rPr lang="es-EC" sz="2800" dirty="0" err="1"/>
              <a:t>body</a:t>
            </a:r>
            <a:r>
              <a:rPr lang="es-EC" sz="2800" dirty="0"/>
              <a:t> </a:t>
            </a:r>
            <a:r>
              <a:rPr lang="es-EC" sz="2800" dirty="0" err="1"/>
              <a:t>language</a:t>
            </a:r>
            <a:r>
              <a:rPr lang="es-EC" sz="2800" dirty="0"/>
              <a:t> (</a:t>
            </a:r>
            <a:r>
              <a:rPr lang="es-EC" sz="2800" dirty="0" err="1"/>
              <a:t>relaxed</a:t>
            </a:r>
            <a:r>
              <a:rPr lang="es-EC" sz="2800" dirty="0"/>
              <a:t>, </a:t>
            </a:r>
            <a:r>
              <a:rPr lang="es-EC" sz="2800" dirty="0" err="1"/>
              <a:t>confident</a:t>
            </a:r>
            <a:r>
              <a:rPr lang="es-EC" sz="2800" dirty="0"/>
              <a:t>, </a:t>
            </a:r>
            <a:r>
              <a:rPr lang="es-EC" sz="2800" dirty="0" err="1"/>
              <a:t>proper</a:t>
            </a:r>
            <a:r>
              <a:rPr lang="es-EC" sz="2800" dirty="0"/>
              <a:t> </a:t>
            </a:r>
            <a:r>
              <a:rPr lang="es-EC" sz="2800" dirty="0" err="1"/>
              <a:t>voice</a:t>
            </a:r>
            <a:r>
              <a:rPr lang="es-EC" sz="2800" dirty="0"/>
              <a:t> volumen and pitch, </a:t>
            </a:r>
            <a:r>
              <a:rPr lang="es-EC" sz="2800" dirty="0" err="1"/>
              <a:t>eye</a:t>
            </a:r>
            <a:r>
              <a:rPr lang="es-EC" sz="2800" dirty="0"/>
              <a:t> </a:t>
            </a:r>
            <a:r>
              <a:rPr lang="es-EC" sz="2800" dirty="0" err="1"/>
              <a:t>contact</a:t>
            </a:r>
            <a:r>
              <a:rPr lang="es-EC" sz="2800" dirty="0"/>
              <a:t> </a:t>
            </a:r>
            <a:r>
              <a:rPr lang="es-EC" sz="2800" dirty="0" err="1"/>
              <a:t>with</a:t>
            </a:r>
            <a:r>
              <a:rPr lang="es-EC" sz="2800" dirty="0"/>
              <a:t> </a:t>
            </a:r>
            <a:r>
              <a:rPr lang="es-EC" sz="2800" dirty="0" err="1"/>
              <a:t>the</a:t>
            </a:r>
            <a:r>
              <a:rPr lang="es-EC" sz="2800" dirty="0"/>
              <a:t> </a:t>
            </a:r>
            <a:r>
              <a:rPr lang="es-EC" sz="2800" dirty="0" err="1"/>
              <a:t>audience</a:t>
            </a:r>
            <a:r>
              <a:rPr lang="es-EC" sz="2800" dirty="0"/>
              <a:t>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s-EC" sz="2800" dirty="0" err="1"/>
              <a:t>Practice</a:t>
            </a:r>
            <a:r>
              <a:rPr lang="es-EC" sz="2800" dirty="0"/>
              <a:t>, </a:t>
            </a:r>
            <a:r>
              <a:rPr lang="es-EC" sz="2800" dirty="0" err="1"/>
              <a:t>practice</a:t>
            </a:r>
            <a:r>
              <a:rPr lang="es-EC" sz="2800" dirty="0"/>
              <a:t>, </a:t>
            </a:r>
            <a:r>
              <a:rPr lang="es-EC" sz="2800" dirty="0" err="1"/>
              <a:t>practice</a:t>
            </a:r>
            <a:r>
              <a:rPr lang="es-EC" sz="2800" dirty="0"/>
              <a:t> </a:t>
            </a:r>
            <a:r>
              <a:rPr lang="es-EC" sz="2800" dirty="0">
                <a:sym typeface="Wingdings" panose="05000000000000000000" pitchFamily="2" charset="2"/>
              </a:rPr>
              <a:t> </a:t>
            </a:r>
            <a:endParaRPr lang="es-EC" sz="2800" dirty="0"/>
          </a:p>
        </p:txBody>
      </p:sp>
    </p:spTree>
    <p:extLst>
      <p:ext uri="{BB962C8B-B14F-4D97-AF65-F5344CB8AC3E}">
        <p14:creationId xmlns:p14="http://schemas.microsoft.com/office/powerpoint/2010/main" val="360071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71396" y="331561"/>
            <a:ext cx="5075238" cy="780128"/>
          </a:xfrm>
          <a:prstGeom prst="rect">
            <a:avLst/>
          </a:prstGeom>
        </p:spPr>
        <p:txBody>
          <a:bodyPr vert="horz" wrap="square" lIns="0" tIns="10583" rIns="0" bIns="0" rtlCol="0" anchor="ctr">
            <a:spAutoFit/>
          </a:bodyPr>
          <a:lstStyle/>
          <a:p>
            <a:pPr marL="10583">
              <a:lnSpc>
                <a:spcPct val="100000"/>
              </a:lnSpc>
              <a:spcBef>
                <a:spcPts val="83"/>
              </a:spcBef>
            </a:pPr>
            <a:r>
              <a:rPr spc="237" dirty="0">
                <a:solidFill>
                  <a:srgbClr val="466ED5"/>
                </a:solidFill>
              </a:rPr>
              <a:t>Assessment</a:t>
            </a:r>
            <a:r>
              <a:rPr spc="4" dirty="0">
                <a:solidFill>
                  <a:srgbClr val="466ED5"/>
                </a:solidFill>
              </a:rPr>
              <a:t> </a:t>
            </a:r>
            <a:r>
              <a:rPr spc="75" dirty="0">
                <a:solidFill>
                  <a:srgbClr val="466ED5"/>
                </a:solidFill>
              </a:rPr>
              <a:t>Criteria</a:t>
            </a:r>
          </a:p>
        </p:txBody>
      </p:sp>
      <p:sp>
        <p:nvSpPr>
          <p:cNvPr id="4" name="object 4"/>
          <p:cNvSpPr/>
          <p:nvPr/>
        </p:nvSpPr>
        <p:spPr>
          <a:xfrm>
            <a:off x="204469" y="1672589"/>
            <a:ext cx="602192" cy="416983"/>
          </a:xfrm>
          <a:custGeom>
            <a:avLst/>
            <a:gdLst/>
            <a:ahLst/>
            <a:cxnLst/>
            <a:rect l="l" t="t" r="r" b="b"/>
            <a:pathLst>
              <a:path w="722630" h="500380">
                <a:moveTo>
                  <a:pt x="589076" y="0"/>
                </a:moveTo>
                <a:lnTo>
                  <a:pt x="133299" y="0"/>
                </a:lnTo>
                <a:lnTo>
                  <a:pt x="91165" y="6797"/>
                </a:lnTo>
                <a:lnTo>
                  <a:pt x="54573" y="25725"/>
                </a:lnTo>
                <a:lnTo>
                  <a:pt x="25718" y="54589"/>
                </a:lnTo>
                <a:lnTo>
                  <a:pt x="6795" y="91196"/>
                </a:lnTo>
                <a:lnTo>
                  <a:pt x="0" y="133350"/>
                </a:lnTo>
                <a:lnTo>
                  <a:pt x="0" y="366521"/>
                </a:lnTo>
                <a:lnTo>
                  <a:pt x="6795" y="408675"/>
                </a:lnTo>
                <a:lnTo>
                  <a:pt x="25718" y="445282"/>
                </a:lnTo>
                <a:lnTo>
                  <a:pt x="54573" y="474146"/>
                </a:lnTo>
                <a:lnTo>
                  <a:pt x="91165" y="493074"/>
                </a:lnTo>
                <a:lnTo>
                  <a:pt x="133299" y="499871"/>
                </a:lnTo>
                <a:lnTo>
                  <a:pt x="589076" y="499871"/>
                </a:lnTo>
                <a:lnTo>
                  <a:pt x="631210" y="493074"/>
                </a:lnTo>
                <a:lnTo>
                  <a:pt x="667802" y="474146"/>
                </a:lnTo>
                <a:lnTo>
                  <a:pt x="696657" y="445282"/>
                </a:lnTo>
                <a:lnTo>
                  <a:pt x="715580" y="408675"/>
                </a:lnTo>
                <a:lnTo>
                  <a:pt x="722376" y="366521"/>
                </a:lnTo>
                <a:lnTo>
                  <a:pt x="722376" y="133350"/>
                </a:lnTo>
                <a:lnTo>
                  <a:pt x="715580" y="91196"/>
                </a:lnTo>
                <a:lnTo>
                  <a:pt x="696657" y="54589"/>
                </a:lnTo>
                <a:lnTo>
                  <a:pt x="667802" y="25725"/>
                </a:lnTo>
                <a:lnTo>
                  <a:pt x="631210" y="6797"/>
                </a:lnTo>
                <a:lnTo>
                  <a:pt x="589076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5" name="object 5"/>
          <p:cNvSpPr txBox="1"/>
          <p:nvPr/>
        </p:nvSpPr>
        <p:spPr>
          <a:xfrm>
            <a:off x="420708" y="1684084"/>
            <a:ext cx="152400" cy="395407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500" spc="-46" dirty="0">
                <a:latin typeface="Georgia"/>
                <a:cs typeface="Georgia"/>
              </a:rPr>
              <a:t>1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841" y="1665606"/>
            <a:ext cx="2771414" cy="1000701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lnSpc>
                <a:spcPts val="2667"/>
              </a:lnSpc>
              <a:spcBef>
                <a:spcPts val="83"/>
              </a:spcBef>
            </a:pPr>
            <a:r>
              <a:rPr sz="2500" b="1" spc="71" dirty="0">
                <a:solidFill>
                  <a:srgbClr val="1F4B8E"/>
                </a:solidFill>
                <a:latin typeface="Roboto"/>
                <a:cs typeface="Roboto"/>
              </a:rPr>
              <a:t>PRONUNCIA</a:t>
            </a:r>
            <a:r>
              <a:rPr lang="es-ES" sz="2500" b="1" spc="71" dirty="0">
                <a:solidFill>
                  <a:srgbClr val="1F4B8E"/>
                </a:solidFill>
                <a:latin typeface="Roboto"/>
                <a:cs typeface="Roboto"/>
              </a:rPr>
              <a:t>TI</a:t>
            </a:r>
            <a:r>
              <a:rPr sz="2500" b="1" spc="71" dirty="0">
                <a:solidFill>
                  <a:srgbClr val="1F4B8E"/>
                </a:solidFill>
                <a:latin typeface="Roboto"/>
                <a:cs typeface="Roboto"/>
              </a:rPr>
              <a:t>ON</a:t>
            </a:r>
            <a:endParaRPr sz="2500" dirty="0">
              <a:latin typeface="Roboto"/>
              <a:cs typeface="Roboto"/>
            </a:endParaRPr>
          </a:p>
          <a:p>
            <a:pPr marL="10583" marR="482581">
              <a:lnSpc>
                <a:spcPct val="78000"/>
              </a:lnSpc>
              <a:spcBef>
                <a:spcPts val="325"/>
              </a:spcBef>
            </a:pPr>
            <a:r>
              <a:rPr sz="2500" dirty="0">
                <a:solidFill>
                  <a:srgbClr val="15203E"/>
                </a:solidFill>
                <a:latin typeface="Roboto"/>
                <a:cs typeface="Roboto"/>
              </a:rPr>
              <a:t>How</a:t>
            </a:r>
            <a:r>
              <a:rPr sz="25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37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25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42" dirty="0">
                <a:solidFill>
                  <a:srgbClr val="15203E"/>
                </a:solidFill>
                <a:latin typeface="Roboto"/>
                <a:cs typeface="Roboto"/>
              </a:rPr>
              <a:t>say</a:t>
            </a:r>
            <a:r>
              <a:rPr sz="2500" spc="-8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a </a:t>
            </a:r>
            <a:r>
              <a:rPr sz="2500" spc="-608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33" dirty="0">
                <a:solidFill>
                  <a:srgbClr val="15203E"/>
                </a:solidFill>
                <a:latin typeface="Roboto"/>
                <a:cs typeface="Roboto"/>
              </a:rPr>
              <a:t>wo</a:t>
            </a:r>
            <a:r>
              <a:rPr lang="es-EC" sz="2500" spc="33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33" dirty="0">
                <a:solidFill>
                  <a:srgbClr val="15203E"/>
                </a:solidFill>
                <a:latin typeface="Roboto"/>
                <a:cs typeface="Roboto"/>
              </a:rPr>
              <a:t>d.</a:t>
            </a:r>
            <a:endParaRPr sz="2500" dirty="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5059" y="1672589"/>
            <a:ext cx="626533" cy="416983"/>
          </a:xfrm>
          <a:custGeom>
            <a:avLst/>
            <a:gdLst/>
            <a:ahLst/>
            <a:cxnLst/>
            <a:rect l="l" t="t" r="r" b="b"/>
            <a:pathLst>
              <a:path w="751839" h="500380">
                <a:moveTo>
                  <a:pt x="617981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1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1"/>
                </a:lnTo>
                <a:lnTo>
                  <a:pt x="617981" y="499871"/>
                </a:lnTo>
                <a:lnTo>
                  <a:pt x="660135" y="493074"/>
                </a:lnTo>
                <a:lnTo>
                  <a:pt x="696742" y="474146"/>
                </a:lnTo>
                <a:lnTo>
                  <a:pt x="725606" y="445282"/>
                </a:lnTo>
                <a:lnTo>
                  <a:pt x="744534" y="408675"/>
                </a:lnTo>
                <a:lnTo>
                  <a:pt x="751331" y="366521"/>
                </a:lnTo>
                <a:lnTo>
                  <a:pt x="751331" y="133350"/>
                </a:lnTo>
                <a:lnTo>
                  <a:pt x="744534" y="91196"/>
                </a:lnTo>
                <a:lnTo>
                  <a:pt x="725606" y="54589"/>
                </a:lnTo>
                <a:lnTo>
                  <a:pt x="696742" y="25725"/>
                </a:lnTo>
                <a:lnTo>
                  <a:pt x="660135" y="6797"/>
                </a:lnTo>
                <a:lnTo>
                  <a:pt x="617981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8" name="object 8"/>
          <p:cNvSpPr txBox="1"/>
          <p:nvPr/>
        </p:nvSpPr>
        <p:spPr>
          <a:xfrm>
            <a:off x="3876674" y="1684084"/>
            <a:ext cx="196850" cy="395407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500" spc="-17" dirty="0">
                <a:latin typeface="Georgia"/>
                <a:cs typeface="Georgia"/>
              </a:rPr>
              <a:t>2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3398" y="1665606"/>
            <a:ext cx="2056871" cy="1000701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lnSpc>
                <a:spcPts val="2667"/>
              </a:lnSpc>
              <a:spcBef>
                <a:spcPts val="83"/>
              </a:spcBef>
            </a:pPr>
            <a:r>
              <a:rPr lang="es-ES" sz="2500" b="1" spc="75" dirty="0">
                <a:solidFill>
                  <a:srgbClr val="1F4B8E"/>
                </a:solidFill>
                <a:latin typeface="Roboto"/>
                <a:cs typeface="Roboto"/>
              </a:rPr>
              <a:t>F</a:t>
            </a:r>
            <a:r>
              <a:rPr sz="2500" b="1" spc="75" dirty="0">
                <a:solidFill>
                  <a:srgbClr val="1F4B8E"/>
                </a:solidFill>
                <a:latin typeface="Roboto"/>
                <a:cs typeface="Roboto"/>
              </a:rPr>
              <a:t>LUENCY</a:t>
            </a:r>
            <a:endParaRPr sz="2500" dirty="0">
              <a:latin typeface="Roboto"/>
              <a:cs typeface="Roboto"/>
            </a:endParaRPr>
          </a:p>
          <a:p>
            <a:pPr marL="10583" marR="4233">
              <a:lnSpc>
                <a:spcPct val="78000"/>
              </a:lnSpc>
              <a:spcBef>
                <a:spcPts val="325"/>
              </a:spcBef>
            </a:pPr>
            <a:r>
              <a:rPr sz="2500" dirty="0">
                <a:solidFill>
                  <a:srgbClr val="15203E"/>
                </a:solidFill>
                <a:latin typeface="Roboto"/>
                <a:cs typeface="Roboto"/>
              </a:rPr>
              <a:t>How</a:t>
            </a:r>
            <a:r>
              <a:rPr sz="2500" spc="-6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25" dirty="0">
                <a:solidFill>
                  <a:srgbClr val="15203E"/>
                </a:solidFill>
                <a:latin typeface="Roboto"/>
                <a:cs typeface="Roboto"/>
              </a:rPr>
              <a:t>smoothly </a:t>
            </a:r>
            <a:r>
              <a:rPr sz="2500" spc="-608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42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speak</a:t>
            </a:r>
            <a:endParaRPr sz="2500" dirty="0">
              <a:latin typeface="Roboto"/>
              <a:cs typeface="Roboto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602730" y="1672589"/>
            <a:ext cx="617538" cy="416983"/>
          </a:xfrm>
          <a:custGeom>
            <a:avLst/>
            <a:gdLst/>
            <a:ahLst/>
            <a:cxnLst/>
            <a:rect l="l" t="t" r="r" b="b"/>
            <a:pathLst>
              <a:path w="741045" h="500380">
                <a:moveTo>
                  <a:pt x="607314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1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1"/>
                </a:lnTo>
                <a:lnTo>
                  <a:pt x="607314" y="499871"/>
                </a:lnTo>
                <a:lnTo>
                  <a:pt x="649467" y="493074"/>
                </a:lnTo>
                <a:lnTo>
                  <a:pt x="686074" y="474146"/>
                </a:lnTo>
                <a:lnTo>
                  <a:pt x="714938" y="445282"/>
                </a:lnTo>
                <a:lnTo>
                  <a:pt x="733866" y="408675"/>
                </a:lnTo>
                <a:lnTo>
                  <a:pt x="740664" y="366521"/>
                </a:lnTo>
                <a:lnTo>
                  <a:pt x="740664" y="133350"/>
                </a:lnTo>
                <a:lnTo>
                  <a:pt x="733866" y="91196"/>
                </a:lnTo>
                <a:lnTo>
                  <a:pt x="714938" y="54589"/>
                </a:lnTo>
                <a:lnTo>
                  <a:pt x="686074" y="25725"/>
                </a:lnTo>
                <a:lnTo>
                  <a:pt x="649467" y="6797"/>
                </a:lnTo>
                <a:lnTo>
                  <a:pt x="607314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11" name="object 11"/>
          <p:cNvSpPr txBox="1"/>
          <p:nvPr/>
        </p:nvSpPr>
        <p:spPr>
          <a:xfrm>
            <a:off x="6826038" y="1684084"/>
            <a:ext cx="193146" cy="395407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500" spc="-29" dirty="0">
                <a:latin typeface="Georgia"/>
                <a:cs typeface="Georgia"/>
              </a:rPr>
              <a:t>3</a:t>
            </a:r>
            <a:endParaRPr sz="2500">
              <a:latin typeface="Georgia"/>
              <a:cs typeface="Georg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6941" y="1987338"/>
            <a:ext cx="281939" cy="3810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6941" y="2876549"/>
            <a:ext cx="281939" cy="3810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6357" y="1665605"/>
            <a:ext cx="4618143" cy="1898383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lnSpc>
                <a:spcPts val="2667"/>
              </a:lnSpc>
              <a:spcBef>
                <a:spcPts val="83"/>
              </a:spcBef>
            </a:pPr>
            <a:r>
              <a:rPr sz="2500" b="1" spc="33" dirty="0">
                <a:solidFill>
                  <a:srgbClr val="1F4B8E"/>
                </a:solidFill>
                <a:latin typeface="Roboto"/>
                <a:cs typeface="Roboto"/>
              </a:rPr>
              <a:t>GRAMMAR</a:t>
            </a:r>
            <a:r>
              <a:rPr sz="2500" b="1" spc="-17" dirty="0">
                <a:solidFill>
                  <a:srgbClr val="1F4B8E"/>
                </a:solidFill>
                <a:latin typeface="Roboto"/>
                <a:cs typeface="Roboto"/>
              </a:rPr>
              <a:t> </a:t>
            </a:r>
            <a:r>
              <a:rPr sz="2500" b="1" spc="17" dirty="0">
                <a:solidFill>
                  <a:srgbClr val="1F4B8E"/>
                </a:solidFill>
                <a:latin typeface="Roboto"/>
                <a:cs typeface="Roboto"/>
              </a:rPr>
              <a:t>AND</a:t>
            </a:r>
            <a:r>
              <a:rPr sz="2500" b="1" spc="-12" dirty="0">
                <a:solidFill>
                  <a:srgbClr val="1F4B8E"/>
                </a:solidFill>
                <a:latin typeface="Roboto"/>
                <a:cs typeface="Roboto"/>
              </a:rPr>
              <a:t> </a:t>
            </a:r>
            <a:r>
              <a:rPr sz="2500" b="1" spc="8" dirty="0">
                <a:solidFill>
                  <a:srgbClr val="1F4B8E"/>
                </a:solidFill>
                <a:latin typeface="Roboto"/>
                <a:cs typeface="Roboto"/>
              </a:rPr>
              <a:t>VOCABULARY</a:t>
            </a:r>
            <a:endParaRPr sz="2500" dirty="0">
              <a:latin typeface="Roboto"/>
              <a:cs typeface="Roboto"/>
            </a:endParaRPr>
          </a:p>
          <a:p>
            <a:pPr marL="247640" marR="140753" indent="-17991">
              <a:lnSpc>
                <a:spcPct val="77900"/>
              </a:lnSpc>
              <a:spcBef>
                <a:spcPts val="325"/>
              </a:spcBef>
            </a:pPr>
            <a:r>
              <a:rPr sz="2500" spc="54" dirty="0">
                <a:solidFill>
                  <a:srgbClr val="15203E"/>
                </a:solidFill>
                <a:latin typeface="Roboto"/>
                <a:cs typeface="Roboto"/>
              </a:rPr>
              <a:t>G</a:t>
            </a:r>
            <a:r>
              <a:rPr lang="es-EC" sz="2500" spc="54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54" dirty="0" err="1">
                <a:solidFill>
                  <a:srgbClr val="15203E"/>
                </a:solidFill>
                <a:latin typeface="Roboto"/>
                <a:cs typeface="Roboto"/>
              </a:rPr>
              <a:t>amma</a:t>
            </a:r>
            <a:r>
              <a:rPr lang="es-EC" sz="2500" spc="54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54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2500" spc="83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83" dirty="0" err="1">
                <a:solidFill>
                  <a:srgbClr val="15203E"/>
                </a:solidFill>
                <a:latin typeface="Roboto"/>
                <a:cs typeface="Roboto"/>
              </a:rPr>
              <a:t>efe</a:t>
            </a:r>
            <a:r>
              <a:rPr lang="es-EC" sz="2500" spc="83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83" dirty="0">
                <a:solidFill>
                  <a:srgbClr val="15203E"/>
                </a:solidFill>
                <a:latin typeface="Roboto"/>
                <a:cs typeface="Roboto"/>
              </a:rPr>
              <a:t>s 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to 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how well 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42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use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tenses,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4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2500" spc="4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4" dirty="0" err="1">
                <a:solidFill>
                  <a:srgbClr val="15203E"/>
                </a:solidFill>
                <a:latin typeface="Roboto"/>
                <a:cs typeface="Roboto"/>
              </a:rPr>
              <a:t>epositions</a:t>
            </a:r>
            <a:r>
              <a:rPr sz="2500" spc="4" dirty="0">
                <a:solidFill>
                  <a:srgbClr val="15203E"/>
                </a:solidFill>
                <a:latin typeface="Roboto"/>
                <a:cs typeface="Roboto"/>
              </a:rPr>
              <a:t>, </a:t>
            </a:r>
            <a:r>
              <a:rPr sz="2500" spc="-608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21" dirty="0" err="1">
                <a:solidFill>
                  <a:srgbClr val="15203E"/>
                </a:solidFill>
                <a:latin typeface="Roboto"/>
                <a:cs typeface="Roboto"/>
              </a:rPr>
              <a:t>ve</a:t>
            </a:r>
            <a:r>
              <a:rPr lang="es-EC" sz="2500" spc="21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21" dirty="0">
                <a:solidFill>
                  <a:srgbClr val="15203E"/>
                </a:solidFill>
                <a:latin typeface="Roboto"/>
                <a:cs typeface="Roboto"/>
              </a:rPr>
              <a:t>bs,</a:t>
            </a:r>
            <a:r>
              <a:rPr sz="2500" spc="-8" dirty="0">
                <a:solidFill>
                  <a:srgbClr val="15203E"/>
                </a:solidFill>
                <a:latin typeface="Roboto"/>
                <a:cs typeface="Roboto"/>
              </a:rPr>
              <a:t> etc.</a:t>
            </a:r>
            <a:endParaRPr sz="2500" dirty="0">
              <a:latin typeface="Roboto"/>
              <a:cs typeface="Roboto"/>
            </a:endParaRPr>
          </a:p>
          <a:p>
            <a:pPr marL="230178">
              <a:lnSpc>
                <a:spcPts val="2000"/>
              </a:lnSpc>
            </a:pPr>
            <a:r>
              <a:rPr sz="2500" spc="4" dirty="0" err="1">
                <a:solidFill>
                  <a:srgbClr val="15203E"/>
                </a:solidFill>
                <a:latin typeface="Roboto"/>
                <a:cs typeface="Roboto"/>
              </a:rPr>
              <a:t>Vocabula</a:t>
            </a:r>
            <a:r>
              <a:rPr lang="es-EC" sz="2500" spc="4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4" dirty="0">
                <a:solidFill>
                  <a:srgbClr val="15203E"/>
                </a:solidFill>
                <a:latin typeface="Roboto"/>
                <a:cs typeface="Roboto"/>
              </a:rPr>
              <a:t>y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2500" spc="83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83" dirty="0" err="1">
                <a:solidFill>
                  <a:srgbClr val="15203E"/>
                </a:solidFill>
                <a:latin typeface="Roboto"/>
                <a:cs typeface="Roboto"/>
              </a:rPr>
              <a:t>efe</a:t>
            </a:r>
            <a:r>
              <a:rPr lang="es-EC" sz="2500" spc="83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83" dirty="0">
                <a:solidFill>
                  <a:srgbClr val="15203E"/>
                </a:solidFill>
                <a:latin typeface="Roboto"/>
                <a:cs typeface="Roboto"/>
              </a:rPr>
              <a:t>s</a:t>
            </a:r>
            <a:r>
              <a:rPr sz="2500" spc="-4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to 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how</a:t>
            </a:r>
            <a:endParaRPr sz="2500" dirty="0">
              <a:latin typeface="Roboto"/>
              <a:cs typeface="Roboto"/>
            </a:endParaRPr>
          </a:p>
          <a:p>
            <a:pPr marL="247640">
              <a:lnSpc>
                <a:spcPts val="2670"/>
              </a:lnSpc>
            </a:pP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much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4" dirty="0" err="1">
                <a:solidFill>
                  <a:srgbClr val="15203E"/>
                </a:solidFill>
                <a:latin typeface="Roboto"/>
                <a:cs typeface="Roboto"/>
              </a:rPr>
              <a:t>vocabula</a:t>
            </a:r>
            <a:r>
              <a:rPr lang="es-EC" sz="2500" spc="-4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-4" dirty="0">
                <a:solidFill>
                  <a:srgbClr val="15203E"/>
                </a:solidFill>
                <a:latin typeface="Roboto"/>
                <a:cs typeface="Roboto"/>
              </a:rPr>
              <a:t>y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42" dirty="0">
                <a:solidFill>
                  <a:srgbClr val="15203E"/>
                </a:solidFill>
                <a:latin typeface="Roboto"/>
                <a:cs typeface="Roboto"/>
              </a:rPr>
              <a:t>you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know.</a:t>
            </a:r>
            <a:endParaRPr sz="2500" dirty="0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73990" y="4434840"/>
            <a:ext cx="586846" cy="416983"/>
          </a:xfrm>
          <a:custGeom>
            <a:avLst/>
            <a:gdLst/>
            <a:ahLst/>
            <a:cxnLst/>
            <a:rect l="l" t="t" r="r" b="b"/>
            <a:pathLst>
              <a:path w="704215" h="500379">
                <a:moveTo>
                  <a:pt x="570788" y="0"/>
                </a:moveTo>
                <a:lnTo>
                  <a:pt x="133299" y="0"/>
                </a:lnTo>
                <a:lnTo>
                  <a:pt x="91165" y="6797"/>
                </a:lnTo>
                <a:lnTo>
                  <a:pt x="54573" y="25725"/>
                </a:lnTo>
                <a:lnTo>
                  <a:pt x="25718" y="54589"/>
                </a:lnTo>
                <a:lnTo>
                  <a:pt x="6795" y="91196"/>
                </a:lnTo>
                <a:lnTo>
                  <a:pt x="0" y="133350"/>
                </a:lnTo>
                <a:lnTo>
                  <a:pt x="0" y="366522"/>
                </a:lnTo>
                <a:lnTo>
                  <a:pt x="6795" y="408675"/>
                </a:lnTo>
                <a:lnTo>
                  <a:pt x="25718" y="445282"/>
                </a:lnTo>
                <a:lnTo>
                  <a:pt x="54573" y="474146"/>
                </a:lnTo>
                <a:lnTo>
                  <a:pt x="91165" y="493074"/>
                </a:lnTo>
                <a:lnTo>
                  <a:pt x="133299" y="499872"/>
                </a:lnTo>
                <a:lnTo>
                  <a:pt x="570788" y="499872"/>
                </a:lnTo>
                <a:lnTo>
                  <a:pt x="612922" y="493074"/>
                </a:lnTo>
                <a:lnTo>
                  <a:pt x="649514" y="474146"/>
                </a:lnTo>
                <a:lnTo>
                  <a:pt x="678369" y="445282"/>
                </a:lnTo>
                <a:lnTo>
                  <a:pt x="697292" y="408675"/>
                </a:lnTo>
                <a:lnTo>
                  <a:pt x="704088" y="366522"/>
                </a:lnTo>
                <a:lnTo>
                  <a:pt x="704088" y="133350"/>
                </a:lnTo>
                <a:lnTo>
                  <a:pt x="697292" y="91196"/>
                </a:lnTo>
                <a:lnTo>
                  <a:pt x="678369" y="54589"/>
                </a:lnTo>
                <a:lnTo>
                  <a:pt x="649514" y="25725"/>
                </a:lnTo>
                <a:lnTo>
                  <a:pt x="612922" y="6797"/>
                </a:lnTo>
                <a:lnTo>
                  <a:pt x="570788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16" name="object 16"/>
          <p:cNvSpPr txBox="1"/>
          <p:nvPr/>
        </p:nvSpPr>
        <p:spPr>
          <a:xfrm>
            <a:off x="394293" y="4447858"/>
            <a:ext cx="205316" cy="395407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500" spc="33" dirty="0">
                <a:latin typeface="Georgia"/>
                <a:cs typeface="Georgia"/>
              </a:rPr>
              <a:t>4</a:t>
            </a:r>
            <a:endParaRPr sz="25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52424" y="4750541"/>
            <a:ext cx="282046" cy="1270529"/>
            <a:chOff x="1022908" y="5700648"/>
            <a:chExt cx="338455" cy="152463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5700648"/>
              <a:ext cx="338328" cy="457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6056960"/>
              <a:ext cx="338328" cy="4575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6412737"/>
              <a:ext cx="338328" cy="457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2908" y="6767779"/>
              <a:ext cx="338328" cy="4572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41840" y="4428808"/>
            <a:ext cx="2405592" cy="1600865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lnSpc>
                <a:spcPts val="2667"/>
              </a:lnSpc>
              <a:spcBef>
                <a:spcPts val="83"/>
              </a:spcBef>
            </a:pPr>
            <a:r>
              <a:rPr sz="2500" b="1" spc="-4" dirty="0">
                <a:solidFill>
                  <a:srgbClr val="1F4B8E"/>
                </a:solidFill>
                <a:latin typeface="Roboto"/>
                <a:cs typeface="Roboto"/>
              </a:rPr>
              <a:t>DELIVERY</a:t>
            </a:r>
            <a:endParaRPr sz="2500" dirty="0">
              <a:latin typeface="Roboto"/>
              <a:cs typeface="Roboto"/>
            </a:endParaRPr>
          </a:p>
          <a:p>
            <a:pPr marL="308492" marR="4233">
              <a:lnSpc>
                <a:spcPct val="78000"/>
              </a:lnSpc>
              <a:spcBef>
                <a:spcPts val="325"/>
              </a:spcBef>
            </a:pPr>
            <a:r>
              <a:rPr sz="2500" spc="-33" dirty="0">
                <a:solidFill>
                  <a:srgbClr val="15203E"/>
                </a:solidFill>
                <a:latin typeface="Roboto"/>
                <a:cs typeface="Roboto"/>
              </a:rPr>
              <a:t>Body </a:t>
            </a:r>
            <a:r>
              <a:rPr sz="2500" spc="-25" dirty="0">
                <a:solidFill>
                  <a:srgbClr val="15203E"/>
                </a:solidFill>
                <a:latin typeface="Roboto"/>
                <a:cs typeface="Roboto"/>
              </a:rPr>
              <a:t>language </a:t>
            </a:r>
            <a:r>
              <a:rPr sz="2500" spc="-61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29" dirty="0" err="1">
                <a:solidFill>
                  <a:srgbClr val="15203E"/>
                </a:solidFill>
                <a:latin typeface="Roboto"/>
                <a:cs typeface="Roboto"/>
              </a:rPr>
              <a:t>Atti</a:t>
            </a:r>
            <a:r>
              <a:rPr lang="es-EC" sz="2500" spc="29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29" dirty="0">
                <a:solidFill>
                  <a:srgbClr val="15203E"/>
                </a:solidFill>
                <a:latin typeface="Roboto"/>
                <a:cs typeface="Roboto"/>
              </a:rPr>
              <a:t>e</a:t>
            </a:r>
            <a:endParaRPr sz="2500" dirty="0">
              <a:latin typeface="Roboto"/>
              <a:cs typeface="Roboto"/>
            </a:endParaRPr>
          </a:p>
          <a:p>
            <a:pPr marL="308492" marR="548724">
              <a:lnSpc>
                <a:spcPct val="77700"/>
              </a:lnSpc>
            </a:pP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Visual</a:t>
            </a:r>
            <a:r>
              <a:rPr sz="2500" spc="-6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aids </a:t>
            </a:r>
            <a:r>
              <a:rPr sz="2500" spc="-608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S" sz="2500" spc="212" dirty="0">
                <a:solidFill>
                  <a:srgbClr val="15203E"/>
                </a:solidFill>
                <a:latin typeface="Roboto"/>
                <a:cs typeface="Roboto"/>
              </a:rPr>
              <a:t>T</a:t>
            </a:r>
            <a:r>
              <a:rPr sz="2500" spc="212" dirty="0" err="1">
                <a:solidFill>
                  <a:srgbClr val="15203E"/>
                </a:solidFill>
                <a:latin typeface="Roboto"/>
                <a:cs typeface="Roboto"/>
              </a:rPr>
              <a:t>ime</a:t>
            </a:r>
            <a:r>
              <a:rPr sz="2500" spc="-25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limit</a:t>
            </a:r>
            <a:endParaRPr sz="2500" dirty="0">
              <a:latin typeface="Roboto"/>
              <a:cs typeface="Roboto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38500" y="4434840"/>
            <a:ext cx="626533" cy="416983"/>
          </a:xfrm>
          <a:custGeom>
            <a:avLst/>
            <a:gdLst/>
            <a:ahLst/>
            <a:cxnLst/>
            <a:rect l="l" t="t" r="r" b="b"/>
            <a:pathLst>
              <a:path w="751839" h="500379">
                <a:moveTo>
                  <a:pt x="617982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2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2"/>
                </a:lnTo>
                <a:lnTo>
                  <a:pt x="617982" y="499872"/>
                </a:lnTo>
                <a:lnTo>
                  <a:pt x="660135" y="493074"/>
                </a:lnTo>
                <a:lnTo>
                  <a:pt x="696742" y="474146"/>
                </a:lnTo>
                <a:lnTo>
                  <a:pt x="725606" y="445282"/>
                </a:lnTo>
                <a:lnTo>
                  <a:pt x="744534" y="408675"/>
                </a:lnTo>
                <a:lnTo>
                  <a:pt x="751332" y="366522"/>
                </a:lnTo>
                <a:lnTo>
                  <a:pt x="751332" y="133350"/>
                </a:lnTo>
                <a:lnTo>
                  <a:pt x="744534" y="91196"/>
                </a:lnTo>
                <a:lnTo>
                  <a:pt x="725606" y="54589"/>
                </a:lnTo>
                <a:lnTo>
                  <a:pt x="696742" y="25725"/>
                </a:lnTo>
                <a:lnTo>
                  <a:pt x="660135" y="6797"/>
                </a:lnTo>
                <a:lnTo>
                  <a:pt x="617982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24" name="object 24"/>
          <p:cNvSpPr txBox="1"/>
          <p:nvPr/>
        </p:nvSpPr>
        <p:spPr>
          <a:xfrm>
            <a:off x="3489007" y="4447858"/>
            <a:ext cx="188913" cy="395407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500" spc="-4" dirty="0">
                <a:latin typeface="Georgia"/>
                <a:cs typeface="Georgia"/>
              </a:rPr>
              <a:t>5</a:t>
            </a:r>
            <a:endParaRPr sz="2500">
              <a:latin typeface="Georgia"/>
              <a:cs typeface="Georg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947901" y="4750541"/>
            <a:ext cx="282046" cy="1270529"/>
            <a:chOff x="4999609" y="5700648"/>
            <a:chExt cx="338455" cy="152463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5700648"/>
              <a:ext cx="338327" cy="4572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6056960"/>
              <a:ext cx="338327" cy="45750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6412737"/>
              <a:ext cx="338327" cy="4572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99609" y="6767779"/>
              <a:ext cx="338327" cy="4572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937316" y="4428808"/>
            <a:ext cx="3334703" cy="1716281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lnSpc>
                <a:spcPts val="2667"/>
              </a:lnSpc>
              <a:spcBef>
                <a:spcPts val="83"/>
              </a:spcBef>
            </a:pPr>
            <a:r>
              <a:rPr sz="2500" b="1" spc="187" dirty="0">
                <a:solidFill>
                  <a:srgbClr val="1F4B8E"/>
                </a:solidFill>
                <a:latin typeface="Roboto"/>
                <a:cs typeface="Roboto"/>
              </a:rPr>
              <a:t>S</a:t>
            </a:r>
            <a:r>
              <a:rPr lang="es-ES" sz="2500" b="1" spc="187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r>
              <a:rPr sz="2500" b="1" spc="187" dirty="0">
                <a:solidFill>
                  <a:srgbClr val="1F4B8E"/>
                </a:solidFill>
                <a:latin typeface="Roboto"/>
                <a:cs typeface="Roboto"/>
              </a:rPr>
              <a:t>RUC</a:t>
            </a:r>
            <a:r>
              <a:rPr lang="es-ES" sz="2500" b="1" spc="187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r>
              <a:rPr sz="2500" b="1" spc="187" dirty="0">
                <a:solidFill>
                  <a:srgbClr val="1F4B8E"/>
                </a:solidFill>
                <a:latin typeface="Roboto"/>
                <a:cs typeface="Roboto"/>
              </a:rPr>
              <a:t>URE</a:t>
            </a:r>
            <a:endParaRPr lang="es-EC" sz="2500" dirty="0">
              <a:latin typeface="Roboto"/>
              <a:cs typeface="Roboto"/>
            </a:endParaRPr>
          </a:p>
          <a:p>
            <a:pPr marL="308492" marR="4233" indent="-78843">
              <a:lnSpc>
                <a:spcPct val="77800"/>
              </a:lnSpc>
              <a:spcBef>
                <a:spcPts val="329"/>
              </a:spcBef>
            </a:pPr>
            <a:r>
              <a:rPr lang="es-EC" sz="2500" spc="21" dirty="0" err="1">
                <a:solidFill>
                  <a:srgbClr val="15203E"/>
                </a:solidFill>
                <a:latin typeface="Roboto"/>
                <a:cs typeface="Roboto"/>
              </a:rPr>
              <a:t>Intr</a:t>
            </a:r>
            <a:r>
              <a:rPr lang="es-EC" sz="2500" spc="37" dirty="0" err="1">
                <a:solidFill>
                  <a:srgbClr val="15203E"/>
                </a:solidFill>
                <a:latin typeface="Roboto"/>
                <a:cs typeface="Roboto"/>
              </a:rPr>
              <a:t>o</a:t>
            </a:r>
            <a:r>
              <a:rPr lang="es-EC" sz="2500" spc="-25" dirty="0" err="1">
                <a:solidFill>
                  <a:srgbClr val="15203E"/>
                </a:solidFill>
                <a:latin typeface="Roboto"/>
                <a:cs typeface="Roboto"/>
              </a:rPr>
              <a:t>duct</a:t>
            </a:r>
            <a:r>
              <a:rPr lang="es-EC" sz="2500" spc="-8" dirty="0" err="1">
                <a:solidFill>
                  <a:srgbClr val="15203E"/>
                </a:solidFill>
                <a:latin typeface="Roboto"/>
                <a:cs typeface="Roboto"/>
              </a:rPr>
              <a:t>i</a:t>
            </a:r>
            <a:r>
              <a:rPr lang="es-EC" sz="2500" spc="-21" dirty="0" err="1">
                <a:solidFill>
                  <a:srgbClr val="15203E"/>
                </a:solidFill>
                <a:latin typeface="Roboto"/>
                <a:cs typeface="Roboto"/>
              </a:rPr>
              <a:t>on</a:t>
            </a:r>
            <a:r>
              <a:rPr lang="es-EC" sz="2500" spc="-21" dirty="0">
                <a:solidFill>
                  <a:srgbClr val="15203E"/>
                </a:solidFill>
                <a:latin typeface="Roboto"/>
                <a:cs typeface="Roboto"/>
              </a:rPr>
              <a:t>  </a:t>
            </a:r>
          </a:p>
          <a:p>
            <a:pPr marL="308492" marR="4233" indent="-78843">
              <a:lnSpc>
                <a:spcPct val="77800"/>
              </a:lnSpc>
              <a:spcBef>
                <a:spcPts val="329"/>
              </a:spcBef>
            </a:pPr>
            <a:r>
              <a:rPr lang="es-EC" sz="2500" spc="-21" dirty="0" err="1">
                <a:solidFill>
                  <a:srgbClr val="15203E"/>
                </a:solidFill>
                <a:latin typeface="Roboto"/>
                <a:cs typeface="Roboto"/>
              </a:rPr>
              <a:t>Problem</a:t>
            </a:r>
            <a:r>
              <a:rPr lang="es-EC" sz="2500" spc="-2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2500" spc="-21" dirty="0" err="1">
                <a:solidFill>
                  <a:srgbClr val="15203E"/>
                </a:solidFill>
                <a:latin typeface="Roboto"/>
                <a:cs typeface="Roboto"/>
              </a:rPr>
              <a:t>explanation</a:t>
            </a:r>
            <a:endParaRPr lang="es-EC" sz="2500" spc="-21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308492" marR="4233" indent="-78843">
              <a:lnSpc>
                <a:spcPct val="77800"/>
              </a:lnSpc>
              <a:spcBef>
                <a:spcPts val="329"/>
              </a:spcBef>
            </a:pPr>
            <a:r>
              <a:rPr lang="es-EC" sz="2500" spc="-21" dirty="0" err="1">
                <a:solidFill>
                  <a:srgbClr val="15203E"/>
                </a:solidFill>
                <a:latin typeface="Roboto"/>
                <a:cs typeface="Roboto"/>
              </a:rPr>
              <a:t>Proposed</a:t>
            </a:r>
            <a:r>
              <a:rPr lang="es-EC" sz="2500" spc="-21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lang="es-EC" sz="2500" spc="-21" dirty="0" err="1">
                <a:solidFill>
                  <a:srgbClr val="15203E"/>
                </a:solidFill>
                <a:latin typeface="Roboto"/>
                <a:cs typeface="Roboto"/>
              </a:rPr>
              <a:t>solutions</a:t>
            </a:r>
            <a:endParaRPr lang="es-EC" sz="2500" spc="-21" dirty="0">
              <a:solidFill>
                <a:srgbClr val="15203E"/>
              </a:solidFill>
              <a:latin typeface="Roboto"/>
              <a:cs typeface="Roboto"/>
            </a:endParaRPr>
          </a:p>
          <a:p>
            <a:pPr marL="308492" marR="4233" indent="-78843">
              <a:lnSpc>
                <a:spcPct val="77800"/>
              </a:lnSpc>
              <a:spcBef>
                <a:spcPts val="329"/>
              </a:spcBef>
            </a:pP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Closing</a:t>
            </a:r>
            <a:endParaRPr sz="2500" dirty="0">
              <a:latin typeface="Roboto"/>
              <a:cs typeface="Roboto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081308" y="4434840"/>
            <a:ext cx="602192" cy="416983"/>
          </a:xfrm>
          <a:custGeom>
            <a:avLst/>
            <a:gdLst/>
            <a:ahLst/>
            <a:cxnLst/>
            <a:rect l="l" t="t" r="r" b="b"/>
            <a:pathLst>
              <a:path w="722629" h="500379">
                <a:moveTo>
                  <a:pt x="589026" y="0"/>
                </a:moveTo>
                <a:lnTo>
                  <a:pt x="133350" y="0"/>
                </a:lnTo>
                <a:lnTo>
                  <a:pt x="91196" y="6797"/>
                </a:lnTo>
                <a:lnTo>
                  <a:pt x="54589" y="25725"/>
                </a:lnTo>
                <a:lnTo>
                  <a:pt x="25725" y="54589"/>
                </a:lnTo>
                <a:lnTo>
                  <a:pt x="6797" y="91196"/>
                </a:lnTo>
                <a:lnTo>
                  <a:pt x="0" y="133350"/>
                </a:lnTo>
                <a:lnTo>
                  <a:pt x="0" y="366522"/>
                </a:lnTo>
                <a:lnTo>
                  <a:pt x="6797" y="408675"/>
                </a:lnTo>
                <a:lnTo>
                  <a:pt x="25725" y="445282"/>
                </a:lnTo>
                <a:lnTo>
                  <a:pt x="54589" y="474146"/>
                </a:lnTo>
                <a:lnTo>
                  <a:pt x="91196" y="493074"/>
                </a:lnTo>
                <a:lnTo>
                  <a:pt x="133350" y="499872"/>
                </a:lnTo>
                <a:lnTo>
                  <a:pt x="589026" y="499872"/>
                </a:lnTo>
                <a:lnTo>
                  <a:pt x="631179" y="493074"/>
                </a:lnTo>
                <a:lnTo>
                  <a:pt x="667786" y="474146"/>
                </a:lnTo>
                <a:lnTo>
                  <a:pt x="696650" y="445282"/>
                </a:lnTo>
                <a:lnTo>
                  <a:pt x="715578" y="408675"/>
                </a:lnTo>
                <a:lnTo>
                  <a:pt x="722376" y="366522"/>
                </a:lnTo>
                <a:lnTo>
                  <a:pt x="722376" y="133350"/>
                </a:lnTo>
                <a:lnTo>
                  <a:pt x="715578" y="91196"/>
                </a:lnTo>
                <a:lnTo>
                  <a:pt x="696650" y="54589"/>
                </a:lnTo>
                <a:lnTo>
                  <a:pt x="667786" y="25725"/>
                </a:lnTo>
                <a:lnTo>
                  <a:pt x="631179" y="6797"/>
                </a:lnTo>
                <a:lnTo>
                  <a:pt x="589026" y="0"/>
                </a:lnTo>
                <a:close/>
              </a:path>
            </a:pathLst>
          </a:custGeom>
          <a:solidFill>
            <a:srgbClr val="FF9635"/>
          </a:solidFill>
        </p:spPr>
        <p:txBody>
          <a:bodyPr wrap="square" lIns="0" tIns="0" rIns="0" bIns="0" rtlCol="0"/>
          <a:lstStyle/>
          <a:p>
            <a:endParaRPr sz="1500"/>
          </a:p>
        </p:txBody>
      </p:sp>
      <p:sp>
        <p:nvSpPr>
          <p:cNvPr id="32" name="object 32"/>
          <p:cNvSpPr txBox="1"/>
          <p:nvPr/>
        </p:nvSpPr>
        <p:spPr>
          <a:xfrm>
            <a:off x="7073052" y="4447858"/>
            <a:ext cx="198967" cy="395407"/>
          </a:xfrm>
          <a:prstGeom prst="rect">
            <a:avLst/>
          </a:prstGeom>
        </p:spPr>
        <p:txBody>
          <a:bodyPr vert="horz" wrap="square" lIns="0" tIns="10583" rIns="0" bIns="0" rtlCol="0">
            <a:spAutoFit/>
          </a:bodyPr>
          <a:lstStyle/>
          <a:p>
            <a:pPr marL="10583">
              <a:spcBef>
                <a:spcPts val="83"/>
              </a:spcBef>
            </a:pPr>
            <a:r>
              <a:rPr sz="2500" spc="-21" dirty="0">
                <a:latin typeface="Georgia"/>
                <a:cs typeface="Georgia"/>
              </a:rPr>
              <a:t>6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739592" y="4346998"/>
            <a:ext cx="3817408" cy="1549782"/>
          </a:xfrm>
          <a:prstGeom prst="rect">
            <a:avLst/>
          </a:prstGeom>
        </p:spPr>
        <p:txBody>
          <a:bodyPr vert="horz" wrap="square" lIns="0" tIns="92074" rIns="0" bIns="0" rtlCol="0">
            <a:spAutoFit/>
          </a:bodyPr>
          <a:lstStyle/>
          <a:p>
            <a:pPr marL="10583">
              <a:spcBef>
                <a:spcPts val="724"/>
              </a:spcBef>
            </a:pPr>
            <a:r>
              <a:rPr sz="2500" b="1" spc="254" dirty="0">
                <a:solidFill>
                  <a:srgbClr val="1F4B8E"/>
                </a:solidFill>
                <a:latin typeface="Roboto"/>
                <a:cs typeface="Roboto"/>
              </a:rPr>
              <a:t>CON</a:t>
            </a:r>
            <a:r>
              <a:rPr lang="es-ES" sz="2500" b="1" spc="254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r>
              <a:rPr sz="2500" b="1" spc="254" dirty="0">
                <a:solidFill>
                  <a:srgbClr val="1F4B8E"/>
                </a:solidFill>
                <a:latin typeface="Roboto"/>
                <a:cs typeface="Roboto"/>
              </a:rPr>
              <a:t>EN</a:t>
            </a:r>
            <a:r>
              <a:rPr lang="es-ES" sz="2500" b="1" spc="254" dirty="0">
                <a:solidFill>
                  <a:srgbClr val="1F4B8E"/>
                </a:solidFill>
                <a:latin typeface="Roboto"/>
                <a:cs typeface="Roboto"/>
              </a:rPr>
              <a:t>T</a:t>
            </a:r>
            <a:endParaRPr sz="2500" dirty="0">
              <a:latin typeface="Roboto"/>
              <a:cs typeface="Roboto"/>
            </a:endParaRPr>
          </a:p>
          <a:p>
            <a:pPr marL="10583" marR="4233" algn="just">
              <a:lnSpc>
                <a:spcPct val="77900"/>
              </a:lnSpc>
              <a:spcBef>
                <a:spcPts val="1308"/>
              </a:spcBef>
            </a:pP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Content </a:t>
            </a:r>
            <a:r>
              <a:rPr sz="2500" spc="4" dirty="0" err="1">
                <a:solidFill>
                  <a:srgbClr val="15203E"/>
                </a:solidFill>
                <a:latin typeface="Roboto"/>
                <a:cs typeface="Roboto"/>
              </a:rPr>
              <a:t>demonst</a:t>
            </a:r>
            <a:r>
              <a:rPr lang="es-EC" sz="2500" spc="4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4" dirty="0" err="1">
                <a:solidFill>
                  <a:srgbClr val="15203E"/>
                </a:solidFill>
                <a:latin typeface="Roboto"/>
                <a:cs typeface="Roboto"/>
              </a:rPr>
              <a:t>ates</a:t>
            </a:r>
            <a:r>
              <a:rPr sz="2500" spc="4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33" dirty="0">
                <a:solidFill>
                  <a:srgbClr val="15203E"/>
                </a:solidFill>
                <a:latin typeface="Roboto"/>
                <a:cs typeface="Roboto"/>
              </a:rPr>
              <a:t>that </a:t>
            </a:r>
            <a:r>
              <a:rPr sz="2500" spc="-61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the student </a:t>
            </a:r>
            <a:r>
              <a:rPr lang="es-EC" sz="2500" spc="37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37" dirty="0" err="1">
                <a:solidFill>
                  <a:srgbClr val="15203E"/>
                </a:solidFill>
                <a:latin typeface="Roboto"/>
                <a:cs typeface="Roboto"/>
              </a:rPr>
              <a:t>esea</a:t>
            </a:r>
            <a:r>
              <a:rPr lang="es-EC" sz="2500" spc="37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37" dirty="0" err="1">
                <a:solidFill>
                  <a:srgbClr val="15203E"/>
                </a:solidFill>
                <a:latin typeface="Roboto"/>
                <a:cs typeface="Roboto"/>
              </a:rPr>
              <a:t>ched</a:t>
            </a:r>
            <a:r>
              <a:rPr sz="2500" spc="37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the </a:t>
            </a:r>
            <a:r>
              <a:rPr sz="2500" spc="-612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12" dirty="0">
                <a:solidFill>
                  <a:srgbClr val="15203E"/>
                </a:solidFill>
                <a:latin typeface="Roboto"/>
                <a:cs typeface="Roboto"/>
              </a:rPr>
              <a:t>topic</a:t>
            </a:r>
            <a:r>
              <a:rPr sz="2500" spc="-4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87" dirty="0" err="1">
                <a:solidFill>
                  <a:srgbClr val="15203E"/>
                </a:solidFill>
                <a:latin typeface="Roboto"/>
                <a:cs typeface="Roboto"/>
              </a:rPr>
              <a:t>fo</a:t>
            </a:r>
            <a:r>
              <a:rPr lang="es-EC" sz="2500" spc="87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spc="-21" dirty="0">
                <a:solidFill>
                  <a:srgbClr val="15203E"/>
                </a:solidFill>
                <a:latin typeface="Roboto"/>
                <a:cs typeface="Roboto"/>
              </a:rPr>
              <a:t>the</a:t>
            </a:r>
            <a:r>
              <a:rPr sz="2500" spc="-17" dirty="0">
                <a:solidFill>
                  <a:srgbClr val="15203E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5203E"/>
                </a:solidFill>
                <a:latin typeface="Roboto"/>
                <a:cs typeface="Roboto"/>
              </a:rPr>
              <a:t>p</a:t>
            </a:r>
            <a:r>
              <a:rPr lang="es-EC" sz="2500" dirty="0">
                <a:solidFill>
                  <a:srgbClr val="15203E"/>
                </a:solidFill>
                <a:latin typeface="Roboto"/>
                <a:cs typeface="Roboto"/>
              </a:rPr>
              <a:t>r</a:t>
            </a:r>
            <a:r>
              <a:rPr sz="2500" dirty="0" err="1">
                <a:solidFill>
                  <a:srgbClr val="15203E"/>
                </a:solidFill>
                <a:latin typeface="Roboto"/>
                <a:cs typeface="Roboto"/>
              </a:rPr>
              <a:t>esentation</a:t>
            </a:r>
            <a:r>
              <a:rPr sz="2500" dirty="0">
                <a:solidFill>
                  <a:srgbClr val="15203E"/>
                </a:solidFill>
                <a:latin typeface="Roboto"/>
                <a:cs typeface="Roboto"/>
              </a:rPr>
              <a:t>.</a:t>
            </a:r>
            <a:endParaRPr sz="2500" dirty="0">
              <a:latin typeface="Roboto"/>
              <a:cs typeface="Roboto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2391" y="6525259"/>
            <a:ext cx="1959609" cy="332738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</TotalTime>
  <Words>574</Words>
  <Application>Microsoft Office PowerPoint</Application>
  <PresentationFormat>Panorámica</PresentationFormat>
  <Paragraphs>78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8" baseType="lpstr">
      <vt:lpstr>Calibri</vt:lpstr>
      <vt:lpstr>Georgia</vt:lpstr>
      <vt:lpstr>Roboto</vt:lpstr>
      <vt:lpstr>Tw Cen MT</vt:lpstr>
      <vt:lpstr>Tw Cen MT Condensed</vt:lpstr>
      <vt:lpstr>Vivaldi</vt:lpstr>
      <vt:lpstr>Wingdings</vt:lpstr>
      <vt:lpstr>Wingdings 3</vt:lpstr>
      <vt:lpstr>Integral</vt:lpstr>
      <vt:lpstr>PREPARING YOUR ORAL PRESENTATION</vt:lpstr>
      <vt:lpstr>Presentation structure</vt:lpstr>
      <vt:lpstr>Useful phrases for the opening: WELCOME &amp; topic presentation</vt:lpstr>
      <vt:lpstr>Presentación de PowerPoint</vt:lpstr>
      <vt:lpstr>Presentación de PowerPoint</vt:lpstr>
      <vt:lpstr>Presentación de PowerPoint</vt:lpstr>
      <vt:lpstr>Presentación de PowerPoint</vt:lpstr>
      <vt:lpstr>REMEMBER THINGS THAT MATTER</vt:lpstr>
      <vt:lpstr>Assessment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Word list 1  Group 3</dc:title>
  <dc:creator>Katherine Anabelle Salvador Cisneros</dc:creator>
  <cp:lastModifiedBy>Jimena Elizabeth Rivadeneira Mora</cp:lastModifiedBy>
  <cp:revision>32</cp:revision>
  <dcterms:created xsi:type="dcterms:W3CDTF">2018-11-09T18:07:09Z</dcterms:created>
  <dcterms:modified xsi:type="dcterms:W3CDTF">2025-03-17T17:10:23Z</dcterms:modified>
</cp:coreProperties>
</file>