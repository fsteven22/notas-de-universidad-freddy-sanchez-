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27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AFBF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2292" y="7589518"/>
            <a:ext cx="2296667" cy="5486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2063" y="2437841"/>
            <a:ext cx="12806273" cy="788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11820"/>
          </a:xfrm>
          <a:custGeom>
            <a:avLst/>
            <a:gdLst/>
            <a:ahLst/>
            <a:cxnLst/>
            <a:rect l="l" t="t" r="r" b="b"/>
            <a:pathLst>
              <a:path w="14630400" h="8211820">
                <a:moveTo>
                  <a:pt x="0" y="8211310"/>
                </a:moveTo>
                <a:lnTo>
                  <a:pt x="14630400" y="8211310"/>
                </a:lnTo>
                <a:lnTo>
                  <a:pt x="14630400" y="0"/>
                </a:lnTo>
                <a:lnTo>
                  <a:pt x="0" y="0"/>
                </a:lnTo>
                <a:lnTo>
                  <a:pt x="0" y="8211310"/>
                </a:lnTo>
                <a:close/>
              </a:path>
            </a:pathLst>
          </a:custGeom>
          <a:solidFill>
            <a:srgbClr val="FAFB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2E549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2E549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2E549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1794" y="3396437"/>
            <a:ext cx="10306811" cy="147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2E549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95880" y="1501266"/>
            <a:ext cx="10438638" cy="2086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AFB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99021" y="1390015"/>
            <a:ext cx="6482715" cy="33401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1273175">
              <a:lnSpc>
                <a:spcPts val="6600"/>
              </a:lnSpc>
              <a:spcBef>
                <a:spcPts val="65"/>
              </a:spcBef>
            </a:pPr>
            <a:r>
              <a:rPr sz="5250" spc="135" dirty="0">
                <a:solidFill>
                  <a:srgbClr val="466ED5"/>
                </a:solidFill>
                <a:latin typeface="Georgia"/>
                <a:cs typeface="Georgia"/>
              </a:rPr>
              <a:t>Problem</a:t>
            </a:r>
            <a:r>
              <a:rPr sz="5250" spc="-40" dirty="0">
                <a:solidFill>
                  <a:srgbClr val="466ED5"/>
                </a:solidFill>
                <a:latin typeface="Georgia"/>
                <a:cs typeface="Georgia"/>
              </a:rPr>
              <a:t> </a:t>
            </a:r>
            <a:r>
              <a:rPr sz="5250" spc="225" dirty="0">
                <a:solidFill>
                  <a:srgbClr val="466ED5"/>
                </a:solidFill>
                <a:latin typeface="Georgia"/>
                <a:cs typeface="Georgia"/>
              </a:rPr>
              <a:t>Solving </a:t>
            </a:r>
            <a:r>
              <a:rPr sz="5250" spc="-1250" dirty="0">
                <a:solidFill>
                  <a:srgbClr val="466ED5"/>
                </a:solidFill>
                <a:latin typeface="Georgia"/>
                <a:cs typeface="Georgia"/>
              </a:rPr>
              <a:t> </a:t>
            </a:r>
            <a:r>
              <a:rPr sz="5250" spc="110" dirty="0">
                <a:solidFill>
                  <a:srgbClr val="466ED5"/>
                </a:solidFill>
                <a:latin typeface="Georgia"/>
                <a:cs typeface="Georgia"/>
              </a:rPr>
              <a:t>Presentation: </a:t>
            </a:r>
            <a:r>
              <a:rPr sz="5250" spc="114" dirty="0">
                <a:solidFill>
                  <a:srgbClr val="466ED5"/>
                </a:solidFill>
                <a:latin typeface="Georgia"/>
                <a:cs typeface="Georgia"/>
              </a:rPr>
              <a:t> </a:t>
            </a:r>
            <a:r>
              <a:rPr sz="5250" spc="225" dirty="0">
                <a:solidFill>
                  <a:srgbClr val="466ED5"/>
                </a:solidFill>
                <a:latin typeface="Georgia"/>
                <a:cs typeface="Georgia"/>
              </a:rPr>
              <a:t>Addressing</a:t>
            </a:r>
            <a:r>
              <a:rPr sz="5250" spc="55" dirty="0">
                <a:solidFill>
                  <a:srgbClr val="466ED5"/>
                </a:solidFill>
                <a:latin typeface="Georgia"/>
                <a:cs typeface="Georgia"/>
              </a:rPr>
              <a:t> </a:t>
            </a:r>
            <a:r>
              <a:rPr sz="5250" spc="250" dirty="0">
                <a:solidFill>
                  <a:srgbClr val="466ED5"/>
                </a:solidFill>
                <a:latin typeface="Georgia"/>
                <a:cs typeface="Georgia"/>
              </a:rPr>
              <a:t>a</a:t>
            </a:r>
            <a:endParaRPr sz="5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5250" spc="130" dirty="0">
                <a:solidFill>
                  <a:srgbClr val="466ED5"/>
                </a:solidFill>
                <a:latin typeface="Georgia"/>
                <a:cs typeface="Georgia"/>
              </a:rPr>
              <a:t>Familiar/Local</a:t>
            </a:r>
            <a:r>
              <a:rPr sz="5250" spc="-30" dirty="0">
                <a:solidFill>
                  <a:srgbClr val="466ED5"/>
                </a:solidFill>
                <a:latin typeface="Georgia"/>
                <a:cs typeface="Georgia"/>
              </a:rPr>
              <a:t> </a:t>
            </a:r>
            <a:r>
              <a:rPr sz="5250" spc="145" dirty="0">
                <a:solidFill>
                  <a:srgbClr val="466ED5"/>
                </a:solidFill>
                <a:latin typeface="Georgia"/>
                <a:cs typeface="Georgia"/>
              </a:rPr>
              <a:t>Issue</a:t>
            </a:r>
            <a:endParaRPr sz="525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0790" y="646557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545"/>
                </a:moveTo>
                <a:lnTo>
                  <a:pt x="6342" y="130351"/>
                </a:lnTo>
                <a:lnTo>
                  <a:pt x="24242" y="87940"/>
                </a:lnTo>
                <a:lnTo>
                  <a:pt x="52006" y="52006"/>
                </a:lnTo>
                <a:lnTo>
                  <a:pt x="87940" y="24242"/>
                </a:lnTo>
                <a:lnTo>
                  <a:pt x="130351" y="6342"/>
                </a:lnTo>
                <a:lnTo>
                  <a:pt x="177546" y="0"/>
                </a:lnTo>
                <a:lnTo>
                  <a:pt x="224740" y="6342"/>
                </a:lnTo>
                <a:lnTo>
                  <a:pt x="267151" y="24242"/>
                </a:lnTo>
                <a:lnTo>
                  <a:pt x="303085" y="52006"/>
                </a:lnTo>
                <a:lnTo>
                  <a:pt x="330849" y="87940"/>
                </a:lnTo>
                <a:lnTo>
                  <a:pt x="348749" y="130351"/>
                </a:lnTo>
                <a:lnTo>
                  <a:pt x="355091" y="177545"/>
                </a:lnTo>
                <a:lnTo>
                  <a:pt x="348749" y="224740"/>
                </a:lnTo>
                <a:lnTo>
                  <a:pt x="330849" y="267151"/>
                </a:lnTo>
                <a:lnTo>
                  <a:pt x="303085" y="303085"/>
                </a:lnTo>
                <a:lnTo>
                  <a:pt x="267151" y="330849"/>
                </a:lnTo>
                <a:lnTo>
                  <a:pt x="224740" y="348749"/>
                </a:lnTo>
                <a:lnTo>
                  <a:pt x="177546" y="355091"/>
                </a:lnTo>
                <a:lnTo>
                  <a:pt x="130351" y="348749"/>
                </a:lnTo>
                <a:lnTo>
                  <a:pt x="87940" y="330849"/>
                </a:lnTo>
                <a:lnTo>
                  <a:pt x="52006" y="303085"/>
                </a:lnTo>
                <a:lnTo>
                  <a:pt x="24242" y="267151"/>
                </a:lnTo>
                <a:lnTo>
                  <a:pt x="6342" y="224740"/>
                </a:lnTo>
                <a:lnTo>
                  <a:pt x="0" y="177545"/>
                </a:lnTo>
                <a:close/>
              </a:path>
            </a:pathLst>
          </a:custGeom>
          <a:ln w="76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99021" y="5149722"/>
            <a:ext cx="4566285" cy="271805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5" dirty="0">
                <a:solidFill>
                  <a:srgbClr val="15203E"/>
                </a:solidFill>
                <a:latin typeface="Roboto"/>
                <a:cs typeface="Roboto"/>
              </a:rPr>
              <a:t>Spoken</a:t>
            </a:r>
            <a:r>
              <a:rPr sz="2150" spc="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150" spc="70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S" sz="2150" spc="7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150" spc="95" dirty="0" err="1">
                <a:solidFill>
                  <a:srgbClr val="15203E"/>
                </a:solidFill>
                <a:latin typeface="Roboto"/>
                <a:cs typeface="Roboto"/>
              </a:rPr>
              <a:t>o</a:t>
            </a:r>
            <a:r>
              <a:rPr sz="2150" spc="-5" dirty="0" err="1">
                <a:solidFill>
                  <a:srgbClr val="15203E"/>
                </a:solidFill>
                <a:latin typeface="Roboto"/>
                <a:cs typeface="Roboto"/>
              </a:rPr>
              <a:t>duction</a:t>
            </a:r>
            <a:r>
              <a:rPr sz="2150" spc="1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150" spc="100" dirty="0">
                <a:solidFill>
                  <a:srgbClr val="15203E"/>
                </a:solidFill>
                <a:latin typeface="Roboto"/>
                <a:cs typeface="Roboto"/>
              </a:rPr>
              <a:t>(MI</a:t>
            </a:r>
            <a:r>
              <a:rPr lang="es-ES" sz="2150" spc="100" dirty="0">
                <a:solidFill>
                  <a:srgbClr val="15203E"/>
                </a:solidFill>
                <a:latin typeface="Roboto"/>
                <a:cs typeface="Roboto"/>
              </a:rPr>
              <a:t>DT</a:t>
            </a:r>
            <a:r>
              <a:rPr sz="2150" spc="100" dirty="0">
                <a:solidFill>
                  <a:srgbClr val="15203E"/>
                </a:solidFill>
                <a:latin typeface="Roboto"/>
                <a:cs typeface="Roboto"/>
              </a:rPr>
              <a:t>ERM</a:t>
            </a:r>
            <a:r>
              <a:rPr sz="2150" spc="60" dirty="0">
                <a:solidFill>
                  <a:srgbClr val="15203E"/>
                </a:solidFill>
                <a:latin typeface="Roboto"/>
                <a:cs typeface="Roboto"/>
              </a:rPr>
              <a:t>)</a:t>
            </a:r>
            <a:r>
              <a:rPr sz="2150" spc="4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150" spc="-370" dirty="0">
                <a:solidFill>
                  <a:srgbClr val="15203E"/>
                </a:solidFill>
                <a:latin typeface="Roboto"/>
                <a:cs typeface="Roboto"/>
              </a:rPr>
              <a:t>-</a:t>
            </a:r>
            <a:r>
              <a:rPr sz="215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150" spc="-5" dirty="0">
                <a:solidFill>
                  <a:srgbClr val="15203E"/>
                </a:solidFill>
                <a:latin typeface="Roboto"/>
                <a:cs typeface="Roboto"/>
              </a:rPr>
              <a:t>1</a:t>
            </a:r>
            <a:r>
              <a:rPr sz="2150" spc="15" dirty="0">
                <a:solidFill>
                  <a:srgbClr val="15203E"/>
                </a:solidFill>
                <a:latin typeface="Roboto"/>
                <a:cs typeface="Roboto"/>
              </a:rPr>
              <a:t>+</a:t>
            </a:r>
            <a:endParaRPr sz="21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2150" spc="-15" dirty="0">
                <a:solidFill>
                  <a:srgbClr val="15203E"/>
                </a:solidFill>
                <a:latin typeface="Roboto"/>
                <a:cs typeface="Roboto"/>
              </a:rPr>
              <a:t>Let's</a:t>
            </a:r>
            <a:r>
              <a:rPr sz="2150" spc="-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15203E"/>
                </a:solidFill>
                <a:latin typeface="Roboto"/>
                <a:cs typeface="Roboto"/>
              </a:rPr>
              <a:t>dive</a:t>
            </a:r>
            <a:r>
              <a:rPr sz="215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150" spc="-15" dirty="0">
                <a:solidFill>
                  <a:srgbClr val="15203E"/>
                </a:solidFill>
                <a:latin typeface="Roboto"/>
                <a:cs typeface="Roboto"/>
              </a:rPr>
              <a:t>in!</a:t>
            </a:r>
            <a:endParaRPr lang="es-ES" sz="2150" spc="-15" dirty="0">
              <a:solidFill>
                <a:srgbClr val="15203E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endParaRPr lang="es-EC" sz="2150" spc="-15" dirty="0">
              <a:solidFill>
                <a:srgbClr val="15203E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endParaRPr lang="es-EC" sz="2150" spc="-15" dirty="0">
              <a:solidFill>
                <a:srgbClr val="15203E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endParaRPr sz="21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50" b="1" i="1" spc="5" dirty="0">
                <a:solidFill>
                  <a:srgbClr val="15203E"/>
                </a:solidFill>
                <a:latin typeface="Roboto"/>
                <a:cs typeface="Roboto"/>
              </a:rPr>
              <a:t>by</a:t>
            </a:r>
            <a:r>
              <a:rPr sz="2150" b="1" i="1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150" b="1" i="1" spc="20" dirty="0">
                <a:solidFill>
                  <a:srgbClr val="15203E"/>
                </a:solidFill>
                <a:latin typeface="Roboto"/>
                <a:cs typeface="Roboto"/>
              </a:rPr>
              <a:t>Jimena</a:t>
            </a:r>
            <a:r>
              <a:rPr sz="2150" b="1" i="1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150" b="1" i="1" spc="30" dirty="0" err="1">
                <a:solidFill>
                  <a:srgbClr val="15203E"/>
                </a:solidFill>
                <a:latin typeface="Roboto"/>
                <a:cs typeface="Roboto"/>
              </a:rPr>
              <a:t>Rivadenei</a:t>
            </a:r>
            <a:r>
              <a:rPr lang="es-EC" sz="2150" b="1" i="1" spc="3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150" b="1" i="1" spc="30" dirty="0">
                <a:solidFill>
                  <a:srgbClr val="15203E"/>
                </a:solidFill>
                <a:latin typeface="Roboto"/>
                <a:cs typeface="Roboto"/>
              </a:rPr>
              <a:t>a</a:t>
            </a:r>
            <a:r>
              <a:rPr lang="es-ES" sz="2150" b="1" i="1" spc="30" dirty="0">
                <a:solidFill>
                  <a:srgbClr val="15203E"/>
                </a:solidFill>
                <a:latin typeface="Roboto"/>
                <a:cs typeface="Roboto"/>
              </a:rPr>
              <a:t>, MA. TEFL.</a:t>
            </a:r>
            <a:endParaRPr sz="2150" b="1" i="1" dirty="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399" cy="82295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2292" y="7589518"/>
            <a:ext cx="2296667" cy="548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2063" y="2437841"/>
            <a:ext cx="275971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80" dirty="0">
                <a:solidFill>
                  <a:srgbClr val="466ED5"/>
                </a:solidFill>
                <a:latin typeface="Georgia"/>
                <a:cs typeface="Georgia"/>
              </a:rPr>
              <a:t>Objective</a:t>
            </a:r>
            <a:endParaRPr sz="50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763" y="3914521"/>
            <a:ext cx="338328" cy="457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2063" y="3883533"/>
            <a:ext cx="6619240" cy="1388201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63525">
              <a:lnSpc>
                <a:spcPts val="3470"/>
              </a:lnSpc>
              <a:spcBef>
                <a:spcPts val="325"/>
              </a:spcBef>
            </a:pP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Repo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t</a:t>
            </a: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35" dirty="0" err="1">
                <a:solidFill>
                  <a:srgbClr val="15203E"/>
                </a:solidFill>
                <a:latin typeface="Roboto"/>
                <a:cs typeface="Roboto"/>
              </a:rPr>
              <a:t>st</a:t>
            </a:r>
            <a:r>
              <a:rPr lang="es-EC" sz="3000" spc="3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35" dirty="0" err="1">
                <a:solidFill>
                  <a:srgbClr val="15203E"/>
                </a:solidFill>
                <a:latin typeface="Roboto"/>
                <a:cs typeface="Roboto"/>
              </a:rPr>
              <a:t>aightfo</a:t>
            </a:r>
            <a:r>
              <a:rPr lang="es-EC" sz="3000" spc="3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35" dirty="0" err="1">
                <a:solidFill>
                  <a:srgbClr val="15203E"/>
                </a:solidFill>
                <a:latin typeface="Roboto"/>
                <a:cs typeface="Roboto"/>
              </a:rPr>
              <a:t>wa</a:t>
            </a:r>
            <a:r>
              <a:rPr lang="es-EC" sz="3000" spc="3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35" dirty="0">
                <a:solidFill>
                  <a:srgbClr val="15203E"/>
                </a:solidFill>
                <a:latin typeface="Roboto"/>
                <a:cs typeface="Roboto"/>
              </a:rPr>
              <a:t>d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10" dirty="0">
                <a:solidFill>
                  <a:srgbClr val="15203E"/>
                </a:solidFill>
                <a:latin typeface="Roboto"/>
                <a:cs typeface="Roboto"/>
              </a:rPr>
              <a:t>info</a:t>
            </a:r>
            <a:r>
              <a:rPr lang="es-EC" sz="3000" spc="1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10" dirty="0" err="1">
                <a:solidFill>
                  <a:srgbClr val="15203E"/>
                </a:solidFill>
                <a:latin typeface="Roboto"/>
                <a:cs typeface="Roboto"/>
              </a:rPr>
              <a:t>mation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to </a:t>
            </a:r>
            <a:r>
              <a:rPr sz="3000" spc="-7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indicate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20" dirty="0" err="1">
                <a:solidFill>
                  <a:srgbClr val="15203E"/>
                </a:solidFill>
                <a:latin typeface="Roboto"/>
                <a:cs typeface="Roboto"/>
              </a:rPr>
              <a:t>natu</a:t>
            </a:r>
            <a:r>
              <a:rPr lang="es-EC" sz="3000" spc="2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0" dirty="0">
                <a:solidFill>
                  <a:srgbClr val="15203E"/>
                </a:solidFill>
                <a:latin typeface="Roboto"/>
                <a:cs typeface="Roboto"/>
              </a:rPr>
              <a:t>e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30" dirty="0">
                <a:solidFill>
                  <a:srgbClr val="15203E"/>
                </a:solidFill>
                <a:latin typeface="Roboto"/>
                <a:cs typeface="Roboto"/>
              </a:rPr>
              <a:t>of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a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5" dirty="0" err="1">
                <a:solidFill>
                  <a:srgbClr val="15203E"/>
                </a:solidFill>
                <a:latin typeface="Roboto"/>
                <a:cs typeface="Roboto"/>
              </a:rPr>
              <a:t>oblem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a</a:t>
            </a:r>
            <a:r>
              <a:rPr lang="es-ES" sz="3000" spc="25" dirty="0">
                <a:solidFill>
                  <a:srgbClr val="15203E"/>
                </a:solidFill>
                <a:latin typeface="Roboto"/>
                <a:cs typeface="Roboto"/>
              </a:rPr>
              <a:t> as </a:t>
            </a:r>
            <a:r>
              <a:rPr lang="es-ES" sz="3000" spc="25" dirty="0" err="1">
                <a:solidFill>
                  <a:srgbClr val="15203E"/>
                </a:solidFill>
                <a:latin typeface="Roboto"/>
                <a:cs typeface="Roboto"/>
              </a:rPr>
              <a:t>well</a:t>
            </a:r>
            <a:r>
              <a:rPr lang="es-ES" sz="3000" spc="25" dirty="0">
                <a:solidFill>
                  <a:srgbClr val="15203E"/>
                </a:solidFill>
                <a:latin typeface="Roboto"/>
                <a:cs typeface="Roboto"/>
              </a:rPr>
              <a:t> as </a:t>
            </a:r>
            <a:r>
              <a:rPr lang="es-ES" sz="3000" spc="25" dirty="0" err="1">
                <a:solidFill>
                  <a:srgbClr val="15203E"/>
                </a:solidFill>
                <a:latin typeface="Roboto"/>
                <a:cs typeface="Roboto"/>
              </a:rPr>
              <a:t>to</a:t>
            </a:r>
            <a:r>
              <a:rPr lang="es-ES" sz="3000" spc="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S" sz="3000" spc="25" dirty="0" err="1">
                <a:solidFill>
                  <a:srgbClr val="15203E"/>
                </a:solidFill>
                <a:latin typeface="Roboto"/>
                <a:cs typeface="Roboto"/>
              </a:rPr>
              <a:t>present</a:t>
            </a:r>
            <a:r>
              <a:rPr lang="es-ES" sz="3000" spc="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S" sz="3000" spc="25" dirty="0" err="1">
                <a:solidFill>
                  <a:srgbClr val="15203E"/>
                </a:solidFill>
                <a:latin typeface="Roboto"/>
                <a:cs typeface="Roboto"/>
              </a:rPr>
              <a:t>solutions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.</a:t>
            </a:r>
            <a:endParaRPr sz="30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7782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660650" marR="5080" indent="-2646045">
              <a:lnSpc>
                <a:spcPts val="5430"/>
              </a:lnSpc>
              <a:spcBef>
                <a:spcPts val="760"/>
              </a:spcBef>
            </a:pPr>
            <a:r>
              <a:rPr spc="-75" dirty="0"/>
              <a:t>OUTLINE</a:t>
            </a:r>
            <a:r>
              <a:rPr dirty="0"/>
              <a:t> </a:t>
            </a:r>
            <a:r>
              <a:rPr spc="95" dirty="0"/>
              <a:t>of</a:t>
            </a:r>
            <a:r>
              <a:rPr spc="25" dirty="0"/>
              <a:t> </a:t>
            </a:r>
            <a:r>
              <a:rPr spc="245" dirty="0"/>
              <a:t>a</a:t>
            </a:r>
            <a:r>
              <a:rPr spc="10" dirty="0"/>
              <a:t> </a:t>
            </a:r>
            <a:r>
              <a:rPr spc="-60" dirty="0"/>
              <a:t>PROBLEM-SOLVING </a:t>
            </a:r>
            <a:r>
              <a:rPr spc="-1190" dirty="0"/>
              <a:t> </a:t>
            </a:r>
            <a:r>
              <a:rPr spc="30" dirty="0"/>
              <a:t>PRESENTATION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61335" y="5264022"/>
            <a:ext cx="3859529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55600" algn="l"/>
              </a:tabLst>
            </a:pP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Int</a:t>
            </a:r>
            <a:r>
              <a:rPr lang="es-EC" sz="3000" spc="-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-5" dirty="0" err="1">
                <a:solidFill>
                  <a:srgbClr val="15203E"/>
                </a:solidFill>
                <a:latin typeface="Roboto"/>
                <a:cs typeface="Roboto"/>
              </a:rPr>
              <a:t>oduction</a:t>
            </a:r>
            <a:endParaRPr sz="3000" dirty="0">
              <a:latin typeface="Roboto"/>
              <a:cs typeface="Roboto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5600" algn="l"/>
              </a:tabLst>
            </a:pPr>
            <a:r>
              <a:rPr sz="3000" spc="30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spc="3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30" dirty="0" err="1">
                <a:solidFill>
                  <a:srgbClr val="15203E"/>
                </a:solidFill>
                <a:latin typeface="Roboto"/>
                <a:cs typeface="Roboto"/>
              </a:rPr>
              <a:t>oblem</a:t>
            </a:r>
            <a:r>
              <a:rPr sz="3000" spc="-8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explanation</a:t>
            </a:r>
            <a:endParaRPr sz="3000" dirty="0">
              <a:latin typeface="Roboto"/>
              <a:cs typeface="Roboto"/>
            </a:endParaRPr>
          </a:p>
          <a:p>
            <a:pPr marL="355600" indent="-342900">
              <a:lnSpc>
                <a:spcPct val="100000"/>
              </a:lnSpc>
              <a:spcBef>
                <a:spcPts val="595"/>
              </a:spcBef>
              <a:buAutoNum type="arabicPeriod"/>
              <a:tabLst>
                <a:tab pos="355600" algn="l"/>
              </a:tabLst>
            </a:pP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5" dirty="0" err="1">
                <a:solidFill>
                  <a:srgbClr val="15203E"/>
                </a:solidFill>
                <a:latin typeface="Roboto"/>
                <a:cs typeface="Roboto"/>
              </a:rPr>
              <a:t>oposed</a:t>
            </a:r>
            <a:r>
              <a:rPr sz="3000" spc="-3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solutions</a:t>
            </a:r>
            <a:endParaRPr sz="3000" dirty="0">
              <a:latin typeface="Roboto"/>
              <a:cs typeface="Roboto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5600" algn="l"/>
              </a:tabLst>
            </a:pPr>
            <a:r>
              <a:rPr lang="es-ES" sz="3000" spc="-20" dirty="0" err="1">
                <a:solidFill>
                  <a:srgbClr val="15203E"/>
                </a:solidFill>
                <a:latin typeface="Roboto"/>
                <a:cs typeface="Roboto"/>
              </a:rPr>
              <a:t>Closing</a:t>
            </a:r>
            <a:endParaRPr sz="30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2292" y="7589518"/>
            <a:ext cx="2296667" cy="5486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AFBF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1153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2623" y="2363165"/>
            <a:ext cx="591185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>
                <a:solidFill>
                  <a:srgbClr val="466ED5"/>
                </a:solidFill>
              </a:rPr>
              <a:t>1.</a:t>
            </a:r>
            <a:r>
              <a:rPr spc="-15" dirty="0">
                <a:solidFill>
                  <a:srgbClr val="466ED5"/>
                </a:solidFill>
              </a:rPr>
              <a:t> </a:t>
            </a:r>
            <a:r>
              <a:rPr spc="110" dirty="0">
                <a:solidFill>
                  <a:srgbClr val="466ED5"/>
                </a:solidFill>
              </a:rPr>
              <a:t>Introduction</a:t>
            </a:r>
            <a:r>
              <a:rPr spc="10" dirty="0">
                <a:solidFill>
                  <a:srgbClr val="466ED5"/>
                </a:solidFill>
              </a:rPr>
              <a:t> </a:t>
            </a:r>
            <a:r>
              <a:rPr spc="-125" dirty="0">
                <a:solidFill>
                  <a:srgbClr val="466ED5"/>
                </a:solidFill>
              </a:rPr>
              <a:t>(30'')</a:t>
            </a:r>
          </a:p>
        </p:txBody>
      </p:sp>
      <p:sp>
        <p:nvSpPr>
          <p:cNvPr id="5" name="object 5"/>
          <p:cNvSpPr/>
          <p:nvPr/>
        </p:nvSpPr>
        <p:spPr>
          <a:xfrm>
            <a:off x="1621536" y="3491483"/>
            <a:ext cx="974090" cy="4399915"/>
          </a:xfrm>
          <a:custGeom>
            <a:avLst/>
            <a:gdLst/>
            <a:ahLst/>
            <a:cxnLst/>
            <a:rect l="l" t="t" r="r" b="b"/>
            <a:pathLst>
              <a:path w="974089" h="4399915">
                <a:moveTo>
                  <a:pt x="973836" y="342900"/>
                </a:moveTo>
                <a:lnTo>
                  <a:pt x="381000" y="342900"/>
                </a:lnTo>
                <a:lnTo>
                  <a:pt x="381000" y="270764"/>
                </a:lnTo>
                <a:lnTo>
                  <a:pt x="373011" y="231216"/>
                </a:lnTo>
                <a:lnTo>
                  <a:pt x="351243" y="198920"/>
                </a:lnTo>
                <a:lnTo>
                  <a:pt x="318947" y="177152"/>
                </a:lnTo>
                <a:lnTo>
                  <a:pt x="279400" y="169164"/>
                </a:lnTo>
                <a:lnTo>
                  <a:pt x="207264" y="169164"/>
                </a:lnTo>
                <a:lnTo>
                  <a:pt x="207264" y="0"/>
                </a:lnTo>
                <a:lnTo>
                  <a:pt x="173736" y="0"/>
                </a:lnTo>
                <a:lnTo>
                  <a:pt x="173736" y="169164"/>
                </a:lnTo>
                <a:lnTo>
                  <a:pt x="101600" y="169164"/>
                </a:lnTo>
                <a:lnTo>
                  <a:pt x="62039" y="177152"/>
                </a:lnTo>
                <a:lnTo>
                  <a:pt x="29743" y="198920"/>
                </a:lnTo>
                <a:lnTo>
                  <a:pt x="7975" y="231216"/>
                </a:lnTo>
                <a:lnTo>
                  <a:pt x="0" y="270764"/>
                </a:lnTo>
                <a:lnTo>
                  <a:pt x="0" y="448564"/>
                </a:lnTo>
                <a:lnTo>
                  <a:pt x="7975" y="488124"/>
                </a:lnTo>
                <a:lnTo>
                  <a:pt x="29743" y="520420"/>
                </a:lnTo>
                <a:lnTo>
                  <a:pt x="62039" y="542188"/>
                </a:lnTo>
                <a:lnTo>
                  <a:pt x="101600" y="550164"/>
                </a:lnTo>
                <a:lnTo>
                  <a:pt x="173736" y="550164"/>
                </a:lnTo>
                <a:lnTo>
                  <a:pt x="173736" y="4399788"/>
                </a:lnTo>
                <a:lnTo>
                  <a:pt x="207264" y="4399788"/>
                </a:lnTo>
                <a:lnTo>
                  <a:pt x="207264" y="550164"/>
                </a:lnTo>
                <a:lnTo>
                  <a:pt x="279400" y="550164"/>
                </a:lnTo>
                <a:lnTo>
                  <a:pt x="318947" y="542188"/>
                </a:lnTo>
                <a:lnTo>
                  <a:pt x="351243" y="520420"/>
                </a:lnTo>
                <a:lnTo>
                  <a:pt x="373011" y="488124"/>
                </a:lnTo>
                <a:lnTo>
                  <a:pt x="381000" y="448564"/>
                </a:lnTo>
                <a:lnTo>
                  <a:pt x="381000" y="376428"/>
                </a:lnTo>
                <a:lnTo>
                  <a:pt x="973836" y="376428"/>
                </a:lnTo>
                <a:lnTo>
                  <a:pt x="973836" y="342900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22247" y="3583304"/>
            <a:ext cx="182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5" dirty="0">
                <a:solidFill>
                  <a:srgbClr val="466ED5"/>
                </a:solidFill>
                <a:latin typeface="Georgia"/>
                <a:cs typeface="Georgia"/>
              </a:rPr>
              <a:t>1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2194" y="3537966"/>
            <a:ext cx="10398125" cy="10071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000" dirty="0">
                <a:solidFill>
                  <a:srgbClr val="466ED5"/>
                </a:solidFill>
                <a:latin typeface="Roboto"/>
                <a:cs typeface="Roboto"/>
              </a:rPr>
              <a:t>Hook </a:t>
            </a:r>
            <a:r>
              <a:rPr sz="3000" spc="-15" dirty="0">
                <a:solidFill>
                  <a:srgbClr val="466ED5"/>
                </a:solidFill>
                <a:latin typeface="Roboto"/>
                <a:cs typeface="Roboto"/>
              </a:rPr>
              <a:t>(catch</a:t>
            </a:r>
            <a:r>
              <a:rPr sz="3000" spc="25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466ED5"/>
                </a:solidFill>
                <a:latin typeface="Roboto"/>
                <a:cs typeface="Roboto"/>
              </a:rPr>
              <a:t>the</a:t>
            </a:r>
            <a:r>
              <a:rPr sz="3000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466ED5"/>
                </a:solidFill>
                <a:latin typeface="Roboto"/>
                <a:cs typeface="Roboto"/>
              </a:rPr>
              <a:t>audience's</a:t>
            </a:r>
            <a:r>
              <a:rPr sz="3000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466ED5"/>
                </a:solidFill>
                <a:latin typeface="Roboto"/>
                <a:cs typeface="Roboto"/>
              </a:rPr>
              <a:t>attention</a:t>
            </a:r>
            <a:r>
              <a:rPr sz="3000" spc="60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r>
              <a:rPr sz="3000" spc="-525" dirty="0">
                <a:solidFill>
                  <a:srgbClr val="466ED5"/>
                </a:solidFill>
                <a:latin typeface="Roboto"/>
                <a:cs typeface="Roboto"/>
              </a:rPr>
              <a:t>-</a:t>
            </a:r>
            <a:r>
              <a:rPr sz="3000" spc="5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r>
              <a:rPr sz="3000" spc="-5" dirty="0">
                <a:solidFill>
                  <a:srgbClr val="466ED5"/>
                </a:solidFill>
                <a:latin typeface="Roboto"/>
                <a:cs typeface="Roboto"/>
              </a:rPr>
              <a:t>int</a:t>
            </a:r>
            <a:r>
              <a:rPr lang="es-EC" sz="3000" spc="-5" dirty="0">
                <a:solidFill>
                  <a:srgbClr val="466ED5"/>
                </a:solidFill>
                <a:latin typeface="Roboto"/>
                <a:cs typeface="Roboto"/>
              </a:rPr>
              <a:t>r</a:t>
            </a:r>
            <a:r>
              <a:rPr sz="3000" spc="-5" dirty="0" err="1">
                <a:solidFill>
                  <a:srgbClr val="466ED5"/>
                </a:solidFill>
                <a:latin typeface="Roboto"/>
                <a:cs typeface="Roboto"/>
              </a:rPr>
              <a:t>oduction</a:t>
            </a:r>
            <a:r>
              <a:rPr sz="3000" spc="-15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r>
              <a:rPr sz="3000" spc="25" dirty="0">
                <a:solidFill>
                  <a:srgbClr val="466ED5"/>
                </a:solidFill>
                <a:latin typeface="Roboto"/>
                <a:cs typeface="Roboto"/>
              </a:rPr>
              <a:t>of</a:t>
            </a:r>
            <a:r>
              <a:rPr sz="3000" spc="5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466ED5"/>
                </a:solidFill>
                <a:latin typeface="Roboto"/>
                <a:cs typeface="Roboto"/>
              </a:rPr>
              <a:t>outline)</a:t>
            </a:r>
            <a:endParaRPr sz="3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3000" b="1" spc="40" dirty="0">
                <a:solidFill>
                  <a:srgbClr val="15203E"/>
                </a:solidFill>
                <a:latin typeface="Roboto"/>
                <a:cs typeface="Roboto"/>
              </a:rPr>
              <a:t>Sta</a:t>
            </a:r>
            <a:r>
              <a:rPr lang="es-EC" sz="3000" b="1" spc="4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40" dirty="0">
                <a:solidFill>
                  <a:srgbClr val="15203E"/>
                </a:solidFill>
                <a:latin typeface="Roboto"/>
                <a:cs typeface="Roboto"/>
              </a:rPr>
              <a:t>t</a:t>
            </a:r>
            <a:r>
              <a:rPr sz="3000" b="1" spc="-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20" dirty="0">
                <a:solidFill>
                  <a:srgbClr val="15203E"/>
                </a:solidFill>
                <a:latin typeface="Roboto"/>
                <a:cs typeface="Roboto"/>
              </a:rPr>
              <a:t>with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an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20" dirty="0">
                <a:solidFill>
                  <a:srgbClr val="15203E"/>
                </a:solidFill>
                <a:latin typeface="Roboto"/>
                <a:cs typeface="Roboto"/>
              </a:rPr>
              <a:t>attention-g</a:t>
            </a:r>
            <a:r>
              <a:rPr lang="es-EC" sz="3000" b="1" spc="2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20" dirty="0">
                <a:solidFill>
                  <a:srgbClr val="15203E"/>
                </a:solidFill>
                <a:latin typeface="Roboto"/>
                <a:cs typeface="Roboto"/>
              </a:rPr>
              <a:t>abbe</a:t>
            </a:r>
            <a:r>
              <a:rPr lang="es-EC" sz="3000" b="1" spc="2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21536" y="5184647"/>
            <a:ext cx="974090" cy="379730"/>
          </a:xfrm>
          <a:custGeom>
            <a:avLst/>
            <a:gdLst/>
            <a:ahLst/>
            <a:cxnLst/>
            <a:rect l="l" t="t" r="r" b="b"/>
            <a:pathLst>
              <a:path w="974089" h="379729">
                <a:moveTo>
                  <a:pt x="973836" y="172212"/>
                </a:moveTo>
                <a:lnTo>
                  <a:pt x="381000" y="172212"/>
                </a:lnTo>
                <a:lnTo>
                  <a:pt x="381000" y="101219"/>
                </a:lnTo>
                <a:lnTo>
                  <a:pt x="373037" y="61836"/>
                </a:lnTo>
                <a:lnTo>
                  <a:pt x="351345" y="29667"/>
                </a:lnTo>
                <a:lnTo>
                  <a:pt x="319163" y="7962"/>
                </a:lnTo>
                <a:lnTo>
                  <a:pt x="279781" y="0"/>
                </a:lnTo>
                <a:lnTo>
                  <a:pt x="101219" y="0"/>
                </a:lnTo>
                <a:lnTo>
                  <a:pt x="61823" y="7962"/>
                </a:lnTo>
                <a:lnTo>
                  <a:pt x="29654" y="29667"/>
                </a:lnTo>
                <a:lnTo>
                  <a:pt x="7950" y="61836"/>
                </a:lnTo>
                <a:lnTo>
                  <a:pt x="0" y="101219"/>
                </a:lnTo>
                <a:lnTo>
                  <a:pt x="0" y="278257"/>
                </a:lnTo>
                <a:lnTo>
                  <a:pt x="7950" y="317652"/>
                </a:lnTo>
                <a:lnTo>
                  <a:pt x="29654" y="349821"/>
                </a:lnTo>
                <a:lnTo>
                  <a:pt x="61823" y="371525"/>
                </a:lnTo>
                <a:lnTo>
                  <a:pt x="101219" y="379476"/>
                </a:lnTo>
                <a:lnTo>
                  <a:pt x="279781" y="379476"/>
                </a:lnTo>
                <a:lnTo>
                  <a:pt x="319163" y="371525"/>
                </a:lnTo>
                <a:lnTo>
                  <a:pt x="351345" y="349821"/>
                </a:lnTo>
                <a:lnTo>
                  <a:pt x="373037" y="317652"/>
                </a:lnTo>
                <a:lnTo>
                  <a:pt x="381000" y="278257"/>
                </a:lnTo>
                <a:lnTo>
                  <a:pt x="381000" y="207264"/>
                </a:lnTo>
                <a:lnTo>
                  <a:pt x="973836" y="207264"/>
                </a:lnTo>
                <a:lnTo>
                  <a:pt x="973836" y="172212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94814" y="5106111"/>
            <a:ext cx="2362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466ED5"/>
                </a:solidFill>
                <a:latin typeface="Georgia"/>
                <a:cs typeface="Georgia"/>
              </a:rPr>
              <a:t>2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2194" y="5061330"/>
            <a:ext cx="11352530" cy="1482457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000" spc="-20" dirty="0">
                <a:solidFill>
                  <a:srgbClr val="466ED5"/>
                </a:solidFill>
                <a:latin typeface="Roboto"/>
                <a:cs typeface="Roboto"/>
              </a:rPr>
              <a:t>Significance</a:t>
            </a:r>
            <a:r>
              <a:rPr sz="3000" spc="-5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endParaRPr lang="es-ES" sz="3000" spc="-5" dirty="0">
              <a:solidFill>
                <a:srgbClr val="466ED5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Explain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why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20" dirty="0">
                <a:solidFill>
                  <a:srgbClr val="15203E"/>
                </a:solidFill>
                <a:latin typeface="Roboto"/>
                <a:cs typeface="Roboto"/>
              </a:rPr>
              <a:t>this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40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b="1" spc="4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40" dirty="0" err="1">
                <a:solidFill>
                  <a:srgbClr val="15203E"/>
                </a:solidFill>
                <a:latin typeface="Roboto"/>
                <a:cs typeface="Roboto"/>
              </a:rPr>
              <a:t>oblem</a:t>
            </a:r>
            <a:r>
              <a:rPr sz="3000" b="1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is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20" dirty="0" err="1">
                <a:solidFill>
                  <a:srgbClr val="15203E"/>
                </a:solidFill>
                <a:latin typeface="Roboto"/>
                <a:cs typeface="Roboto"/>
              </a:rPr>
              <a:t>impo</a:t>
            </a:r>
            <a:r>
              <a:rPr lang="es-EC" sz="3000" b="1" spc="2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20" dirty="0">
                <a:solidFill>
                  <a:srgbClr val="15203E"/>
                </a:solidFill>
                <a:latin typeface="Roboto"/>
                <a:cs typeface="Roboto"/>
              </a:rPr>
              <a:t>tant</a:t>
            </a:r>
            <a:r>
              <a:rPr sz="3000" b="1" spc="-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130" dirty="0">
                <a:solidFill>
                  <a:srgbClr val="15203E"/>
                </a:solidFill>
                <a:latin typeface="Roboto"/>
                <a:cs typeface="Roboto"/>
              </a:rPr>
              <a:t>o</a:t>
            </a:r>
            <a:r>
              <a:rPr lang="es-EC" sz="3000" spc="13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3000" spc="1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10" dirty="0" err="1">
                <a:solidFill>
                  <a:srgbClr val="15203E"/>
                </a:solidFill>
                <a:latin typeface="Roboto"/>
                <a:cs typeface="Roboto"/>
              </a:rPr>
              <a:t>elevant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to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audience.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21536" y="6707123"/>
            <a:ext cx="974090" cy="381000"/>
          </a:xfrm>
          <a:custGeom>
            <a:avLst/>
            <a:gdLst/>
            <a:ahLst/>
            <a:cxnLst/>
            <a:rect l="l" t="t" r="r" b="b"/>
            <a:pathLst>
              <a:path w="974089" h="381000">
                <a:moveTo>
                  <a:pt x="973836" y="173736"/>
                </a:moveTo>
                <a:lnTo>
                  <a:pt x="381000" y="173736"/>
                </a:lnTo>
                <a:lnTo>
                  <a:pt x="381000" y="101600"/>
                </a:lnTo>
                <a:lnTo>
                  <a:pt x="373011" y="62052"/>
                </a:lnTo>
                <a:lnTo>
                  <a:pt x="351243" y="29756"/>
                </a:lnTo>
                <a:lnTo>
                  <a:pt x="318947" y="7988"/>
                </a:lnTo>
                <a:lnTo>
                  <a:pt x="279400" y="0"/>
                </a:lnTo>
                <a:lnTo>
                  <a:pt x="101600" y="0"/>
                </a:lnTo>
                <a:lnTo>
                  <a:pt x="62039" y="7988"/>
                </a:lnTo>
                <a:lnTo>
                  <a:pt x="29743" y="29756"/>
                </a:lnTo>
                <a:lnTo>
                  <a:pt x="7975" y="62052"/>
                </a:lnTo>
                <a:lnTo>
                  <a:pt x="0" y="101600"/>
                </a:lnTo>
                <a:lnTo>
                  <a:pt x="0" y="279400"/>
                </a:lnTo>
                <a:lnTo>
                  <a:pt x="7975" y="318947"/>
                </a:lnTo>
                <a:lnTo>
                  <a:pt x="29743" y="351243"/>
                </a:lnTo>
                <a:lnTo>
                  <a:pt x="62039" y="373024"/>
                </a:lnTo>
                <a:lnTo>
                  <a:pt x="101600" y="381000"/>
                </a:lnTo>
                <a:lnTo>
                  <a:pt x="279400" y="381000"/>
                </a:lnTo>
                <a:lnTo>
                  <a:pt x="318947" y="373024"/>
                </a:lnTo>
                <a:lnTo>
                  <a:pt x="351243" y="351243"/>
                </a:lnTo>
                <a:lnTo>
                  <a:pt x="373011" y="318947"/>
                </a:lnTo>
                <a:lnTo>
                  <a:pt x="381000" y="279400"/>
                </a:lnTo>
                <a:lnTo>
                  <a:pt x="381000" y="207264"/>
                </a:lnTo>
                <a:lnTo>
                  <a:pt x="973836" y="207264"/>
                </a:lnTo>
                <a:lnTo>
                  <a:pt x="973836" y="173736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97863" y="6629501"/>
            <a:ext cx="2317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5" dirty="0">
                <a:solidFill>
                  <a:srgbClr val="466ED5"/>
                </a:solidFill>
                <a:latin typeface="Georgia"/>
                <a:cs typeface="Georgia"/>
              </a:rPr>
              <a:t>3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2194" y="6583815"/>
            <a:ext cx="9674606" cy="102143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3000" spc="25" dirty="0">
                <a:solidFill>
                  <a:srgbClr val="466ED5"/>
                </a:solidFill>
                <a:latin typeface="Roboto"/>
                <a:cs typeface="Roboto"/>
              </a:rPr>
              <a:t>Pu</a:t>
            </a:r>
            <a:r>
              <a:rPr lang="es-EC" sz="3000" spc="25" dirty="0">
                <a:solidFill>
                  <a:srgbClr val="466ED5"/>
                </a:solidFill>
                <a:latin typeface="Roboto"/>
                <a:cs typeface="Roboto"/>
              </a:rPr>
              <a:t>r</a:t>
            </a:r>
            <a:r>
              <a:rPr sz="3000" spc="25" dirty="0">
                <a:solidFill>
                  <a:srgbClr val="466ED5"/>
                </a:solidFill>
                <a:latin typeface="Roboto"/>
                <a:cs typeface="Roboto"/>
              </a:rPr>
              <a:t>pose</a:t>
            </a:r>
            <a:r>
              <a:rPr sz="3000" spc="-30" dirty="0">
                <a:solidFill>
                  <a:srgbClr val="466ED5"/>
                </a:solidFill>
                <a:latin typeface="Roboto"/>
                <a:cs typeface="Roboto"/>
              </a:rPr>
              <a:t> </a:t>
            </a:r>
            <a:endParaRPr lang="es-ES" sz="3000" spc="-30" dirty="0">
              <a:solidFill>
                <a:srgbClr val="466ED5"/>
              </a:solidFill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State</a:t>
            </a:r>
            <a:r>
              <a:rPr sz="3000" b="1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40" dirty="0" err="1">
                <a:solidFill>
                  <a:srgbClr val="15203E"/>
                </a:solidFill>
                <a:latin typeface="Roboto"/>
                <a:cs typeface="Roboto"/>
              </a:rPr>
              <a:t>pu</a:t>
            </a:r>
            <a:r>
              <a:rPr lang="es-EC" sz="3000" b="1" spc="4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40" dirty="0">
                <a:solidFill>
                  <a:srgbClr val="15203E"/>
                </a:solidFill>
                <a:latin typeface="Roboto"/>
                <a:cs typeface="Roboto"/>
              </a:rPr>
              <a:t>pose</a:t>
            </a:r>
            <a:r>
              <a:rPr sz="3000" b="1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10" dirty="0">
                <a:solidFill>
                  <a:srgbClr val="15203E"/>
                </a:solidFill>
                <a:latin typeface="Roboto"/>
                <a:cs typeface="Roboto"/>
              </a:rPr>
              <a:t>of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lang="es-ES"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20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b="1" spc="2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20" dirty="0" err="1">
                <a:solidFill>
                  <a:srgbClr val="15203E"/>
                </a:solidFill>
                <a:latin typeface="Roboto"/>
                <a:cs typeface="Roboto"/>
              </a:rPr>
              <a:t>esentation</a:t>
            </a:r>
            <a:r>
              <a:rPr sz="3000" b="1" spc="20" dirty="0">
                <a:solidFill>
                  <a:srgbClr val="15203E"/>
                </a:solidFill>
                <a:latin typeface="Roboto"/>
                <a:cs typeface="Roboto"/>
              </a:rPr>
              <a:t>.</a:t>
            </a:r>
            <a:endParaRPr sz="3000" dirty="0">
              <a:latin typeface="Roboto"/>
              <a:cs typeface="Roboto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3731" y="7717534"/>
            <a:ext cx="2296668" cy="5120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4825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3473" y="2693288"/>
            <a:ext cx="791146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>
                <a:solidFill>
                  <a:srgbClr val="466ED5"/>
                </a:solidFill>
              </a:rPr>
              <a:t>2.</a:t>
            </a:r>
            <a:r>
              <a:rPr dirty="0">
                <a:solidFill>
                  <a:srgbClr val="466ED5"/>
                </a:solidFill>
              </a:rPr>
              <a:t> </a:t>
            </a:r>
            <a:r>
              <a:rPr spc="130" dirty="0">
                <a:solidFill>
                  <a:srgbClr val="466ED5"/>
                </a:solidFill>
              </a:rPr>
              <a:t>Problem</a:t>
            </a:r>
            <a:r>
              <a:rPr spc="15" dirty="0">
                <a:solidFill>
                  <a:srgbClr val="466ED5"/>
                </a:solidFill>
              </a:rPr>
              <a:t> </a:t>
            </a:r>
            <a:r>
              <a:rPr spc="195" dirty="0">
                <a:solidFill>
                  <a:srgbClr val="466ED5"/>
                </a:solidFill>
              </a:rPr>
              <a:t>explanation</a:t>
            </a:r>
            <a:r>
              <a:rPr spc="5" dirty="0">
                <a:solidFill>
                  <a:srgbClr val="466ED5"/>
                </a:solidFill>
              </a:rPr>
              <a:t> </a:t>
            </a:r>
            <a:r>
              <a:rPr spc="-150" dirty="0">
                <a:solidFill>
                  <a:srgbClr val="466ED5"/>
                </a:solidFill>
              </a:rPr>
              <a:t>(1')</a:t>
            </a:r>
          </a:p>
        </p:txBody>
      </p:sp>
      <p:sp>
        <p:nvSpPr>
          <p:cNvPr id="4" name="object 4"/>
          <p:cNvSpPr/>
          <p:nvPr/>
        </p:nvSpPr>
        <p:spPr>
          <a:xfrm>
            <a:off x="1556004" y="3747515"/>
            <a:ext cx="1338580" cy="3733800"/>
          </a:xfrm>
          <a:custGeom>
            <a:avLst/>
            <a:gdLst/>
            <a:ahLst/>
            <a:cxnLst/>
            <a:rect l="l" t="t" r="r" b="b"/>
            <a:pathLst>
              <a:path w="1338580" h="3733800">
                <a:moveTo>
                  <a:pt x="1338072" y="402336"/>
                </a:moveTo>
                <a:lnTo>
                  <a:pt x="573024" y="402336"/>
                </a:lnTo>
                <a:lnTo>
                  <a:pt x="573024" y="317246"/>
                </a:lnTo>
                <a:lnTo>
                  <a:pt x="563651" y="270891"/>
                </a:lnTo>
                <a:lnTo>
                  <a:pt x="538124" y="233019"/>
                </a:lnTo>
                <a:lnTo>
                  <a:pt x="500253" y="207492"/>
                </a:lnTo>
                <a:lnTo>
                  <a:pt x="453898" y="198120"/>
                </a:lnTo>
                <a:lnTo>
                  <a:pt x="254508" y="198120"/>
                </a:lnTo>
                <a:lnTo>
                  <a:pt x="254508" y="0"/>
                </a:lnTo>
                <a:lnTo>
                  <a:pt x="204216" y="0"/>
                </a:lnTo>
                <a:lnTo>
                  <a:pt x="204216" y="198120"/>
                </a:lnTo>
                <a:lnTo>
                  <a:pt x="119126" y="198120"/>
                </a:lnTo>
                <a:lnTo>
                  <a:pt x="72758" y="207492"/>
                </a:lnTo>
                <a:lnTo>
                  <a:pt x="34886" y="233019"/>
                </a:lnTo>
                <a:lnTo>
                  <a:pt x="9359" y="270891"/>
                </a:lnTo>
                <a:lnTo>
                  <a:pt x="0" y="317246"/>
                </a:lnTo>
                <a:lnTo>
                  <a:pt x="0" y="525526"/>
                </a:lnTo>
                <a:lnTo>
                  <a:pt x="9359" y="571893"/>
                </a:lnTo>
                <a:lnTo>
                  <a:pt x="34886" y="609765"/>
                </a:lnTo>
                <a:lnTo>
                  <a:pt x="72758" y="635292"/>
                </a:lnTo>
                <a:lnTo>
                  <a:pt x="119126" y="644652"/>
                </a:lnTo>
                <a:lnTo>
                  <a:pt x="204216" y="644652"/>
                </a:lnTo>
                <a:lnTo>
                  <a:pt x="204216" y="3733800"/>
                </a:lnTo>
                <a:lnTo>
                  <a:pt x="254508" y="3733800"/>
                </a:lnTo>
                <a:lnTo>
                  <a:pt x="254508" y="644652"/>
                </a:lnTo>
                <a:lnTo>
                  <a:pt x="453898" y="644652"/>
                </a:lnTo>
                <a:lnTo>
                  <a:pt x="500253" y="635292"/>
                </a:lnTo>
                <a:lnTo>
                  <a:pt x="538124" y="609765"/>
                </a:lnTo>
                <a:lnTo>
                  <a:pt x="563651" y="571893"/>
                </a:lnTo>
                <a:lnTo>
                  <a:pt x="573024" y="525526"/>
                </a:lnTo>
                <a:lnTo>
                  <a:pt x="573024" y="441960"/>
                </a:lnTo>
                <a:lnTo>
                  <a:pt x="1338072" y="441960"/>
                </a:lnTo>
                <a:lnTo>
                  <a:pt x="1338072" y="402336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06372" y="3911853"/>
            <a:ext cx="182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5" dirty="0">
                <a:solidFill>
                  <a:srgbClr val="466ED5"/>
                </a:solidFill>
                <a:latin typeface="Georgia"/>
                <a:cs typeface="Georgia"/>
              </a:rPr>
              <a:t>1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0845" y="3772661"/>
            <a:ext cx="9388475" cy="157416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3000" spc="-25" dirty="0">
                <a:solidFill>
                  <a:srgbClr val="1F4B8E"/>
                </a:solidFill>
                <a:latin typeface="Roboto"/>
                <a:cs typeface="Roboto"/>
              </a:rPr>
              <a:t>Identify</a:t>
            </a:r>
            <a:r>
              <a:rPr sz="3000" spc="-20" dirty="0">
                <a:solidFill>
                  <a:srgbClr val="1F4B8E"/>
                </a:solidFill>
                <a:latin typeface="Roboto"/>
                <a:cs typeface="Roboto"/>
              </a:rPr>
              <a:t> the </a:t>
            </a:r>
            <a:r>
              <a:rPr sz="3000" spc="30" dirty="0">
                <a:solidFill>
                  <a:srgbClr val="1F4B8E"/>
                </a:solidFill>
                <a:latin typeface="Roboto"/>
                <a:cs typeface="Roboto"/>
              </a:rPr>
              <a:t>p</a:t>
            </a:r>
            <a:r>
              <a:rPr lang="es-EC" sz="3000" spc="30" dirty="0">
                <a:solidFill>
                  <a:srgbClr val="1F4B8E"/>
                </a:solidFill>
                <a:latin typeface="Roboto"/>
                <a:cs typeface="Roboto"/>
              </a:rPr>
              <a:t>r</a:t>
            </a:r>
            <a:r>
              <a:rPr sz="3000" spc="30" dirty="0" err="1">
                <a:solidFill>
                  <a:srgbClr val="1F4B8E"/>
                </a:solidFill>
                <a:latin typeface="Roboto"/>
                <a:cs typeface="Roboto"/>
              </a:rPr>
              <a:t>oblem</a:t>
            </a:r>
            <a:endParaRPr sz="3000" dirty="0">
              <a:latin typeface="Roboto"/>
              <a:cs typeface="Roboto"/>
            </a:endParaRPr>
          </a:p>
          <a:p>
            <a:pPr marL="12700" marR="5080">
              <a:lnSpc>
                <a:spcPts val="3070"/>
              </a:lnSpc>
              <a:spcBef>
                <a:spcPts val="1505"/>
              </a:spcBef>
            </a:pPr>
            <a:r>
              <a:rPr sz="3000" b="1" spc="4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b="1" spc="4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45" dirty="0" err="1">
                <a:solidFill>
                  <a:srgbClr val="15203E"/>
                </a:solidFill>
                <a:latin typeface="Roboto"/>
                <a:cs typeface="Roboto"/>
              </a:rPr>
              <a:t>ovide</a:t>
            </a:r>
            <a:r>
              <a:rPr sz="3000" b="1" spc="4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context 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and </a:t>
            </a:r>
            <a:r>
              <a:rPr sz="3000" b="1" spc="25" dirty="0" err="1">
                <a:solidFill>
                  <a:srgbClr val="15203E"/>
                </a:solidFill>
                <a:latin typeface="Roboto"/>
                <a:cs typeface="Roboto"/>
              </a:rPr>
              <a:t>backg</a:t>
            </a:r>
            <a:r>
              <a:rPr lang="es-EC" sz="3000" b="1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25" dirty="0" err="1">
                <a:solidFill>
                  <a:srgbClr val="15203E"/>
                </a:solidFill>
                <a:latin typeface="Roboto"/>
                <a:cs typeface="Roboto"/>
              </a:rPr>
              <a:t>ound</a:t>
            </a:r>
            <a:r>
              <a:rPr sz="3000" b="1" spc="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20" dirty="0">
                <a:solidFill>
                  <a:srgbClr val="15203E"/>
                </a:solidFill>
                <a:latin typeface="Roboto"/>
                <a:cs typeface="Roboto"/>
              </a:rPr>
              <a:t>info</a:t>
            </a:r>
            <a:r>
              <a:rPr lang="es-EC" sz="3000" b="1" spc="2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20" dirty="0" err="1">
                <a:solidFill>
                  <a:srgbClr val="15203E"/>
                </a:solidFill>
                <a:latin typeface="Roboto"/>
                <a:cs typeface="Roboto"/>
              </a:rPr>
              <a:t>mation</a:t>
            </a:r>
            <a:r>
              <a:rPr sz="3000" b="1" spc="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about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the </a:t>
            </a:r>
            <a:r>
              <a:rPr sz="3000" b="1" spc="-73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3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b="1" spc="3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35" dirty="0" err="1">
                <a:solidFill>
                  <a:srgbClr val="15203E"/>
                </a:solidFill>
                <a:latin typeface="Roboto"/>
                <a:cs typeface="Roboto"/>
              </a:rPr>
              <a:t>oblem</a:t>
            </a:r>
            <a:r>
              <a:rPr sz="3000" spc="35" dirty="0">
                <a:solidFill>
                  <a:srgbClr val="15203E"/>
                </a:solidFill>
                <a:latin typeface="Roboto"/>
                <a:cs typeface="Roboto"/>
              </a:rPr>
              <a:t>,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35" dirty="0">
                <a:solidFill>
                  <a:srgbClr val="15203E"/>
                </a:solidFill>
                <a:latin typeface="Roboto"/>
                <a:cs typeface="Roboto"/>
              </a:rPr>
              <a:t>including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its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5" dirty="0" err="1">
                <a:solidFill>
                  <a:srgbClr val="15203E"/>
                </a:solidFill>
                <a:latin typeface="Roboto"/>
                <a:cs typeface="Roboto"/>
              </a:rPr>
              <a:t>histo</a:t>
            </a:r>
            <a:r>
              <a:rPr lang="es-EC" sz="3000" spc="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lang="es-ES" sz="3000" spc="5" dirty="0">
                <a:solidFill>
                  <a:srgbClr val="15203E"/>
                </a:solidFill>
                <a:latin typeface="Roboto"/>
                <a:cs typeface="Roboto"/>
              </a:rPr>
              <a:t>y, causes,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and</a:t>
            </a:r>
            <a:r>
              <a:rPr sz="3000" spc="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impact.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6004" y="5911595"/>
            <a:ext cx="1338580" cy="448309"/>
          </a:xfrm>
          <a:custGeom>
            <a:avLst/>
            <a:gdLst/>
            <a:ahLst/>
            <a:cxnLst/>
            <a:rect l="l" t="t" r="r" b="b"/>
            <a:pathLst>
              <a:path w="1338580" h="448310">
                <a:moveTo>
                  <a:pt x="1338072" y="204216"/>
                </a:moveTo>
                <a:lnTo>
                  <a:pt x="573024" y="204216"/>
                </a:lnTo>
                <a:lnTo>
                  <a:pt x="573024" y="119507"/>
                </a:lnTo>
                <a:lnTo>
                  <a:pt x="563626" y="72974"/>
                </a:lnTo>
                <a:lnTo>
                  <a:pt x="538035" y="34988"/>
                </a:lnTo>
                <a:lnTo>
                  <a:pt x="500049" y="9398"/>
                </a:lnTo>
                <a:lnTo>
                  <a:pt x="453517" y="0"/>
                </a:lnTo>
                <a:lnTo>
                  <a:pt x="119507" y="0"/>
                </a:lnTo>
                <a:lnTo>
                  <a:pt x="72961" y="9398"/>
                </a:lnTo>
                <a:lnTo>
                  <a:pt x="34988" y="34988"/>
                </a:lnTo>
                <a:lnTo>
                  <a:pt x="9385" y="72974"/>
                </a:lnTo>
                <a:lnTo>
                  <a:pt x="0" y="119507"/>
                </a:lnTo>
                <a:lnTo>
                  <a:pt x="0" y="328549"/>
                </a:lnTo>
                <a:lnTo>
                  <a:pt x="9385" y="375094"/>
                </a:lnTo>
                <a:lnTo>
                  <a:pt x="34988" y="413067"/>
                </a:lnTo>
                <a:lnTo>
                  <a:pt x="72961" y="438670"/>
                </a:lnTo>
                <a:lnTo>
                  <a:pt x="119507" y="448056"/>
                </a:lnTo>
                <a:lnTo>
                  <a:pt x="453517" y="448056"/>
                </a:lnTo>
                <a:lnTo>
                  <a:pt x="500049" y="438670"/>
                </a:lnTo>
                <a:lnTo>
                  <a:pt x="538035" y="413067"/>
                </a:lnTo>
                <a:lnTo>
                  <a:pt x="563626" y="375094"/>
                </a:lnTo>
                <a:lnTo>
                  <a:pt x="573024" y="328549"/>
                </a:lnTo>
                <a:lnTo>
                  <a:pt x="573024" y="243840"/>
                </a:lnTo>
                <a:lnTo>
                  <a:pt x="1338072" y="243840"/>
                </a:lnTo>
                <a:lnTo>
                  <a:pt x="1338072" y="204216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86305" y="5878829"/>
            <a:ext cx="236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466ED5"/>
                </a:solidFill>
                <a:latin typeface="Georgia"/>
                <a:cs typeface="Georgia"/>
              </a:rPr>
              <a:t>2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845" y="5739510"/>
            <a:ext cx="8988425" cy="198259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3000" spc="-10" dirty="0">
                <a:solidFill>
                  <a:srgbClr val="2E5496"/>
                </a:solidFill>
                <a:latin typeface="Roboto"/>
                <a:cs typeface="Roboto"/>
              </a:rPr>
              <a:t>Consequences</a:t>
            </a:r>
            <a:endParaRPr sz="3000" dirty="0">
              <a:latin typeface="Roboto"/>
              <a:cs typeface="Roboto"/>
            </a:endParaRPr>
          </a:p>
          <a:p>
            <a:pPr marL="12700" marR="5080">
              <a:lnSpc>
                <a:spcPts val="3070"/>
              </a:lnSpc>
              <a:spcBef>
                <a:spcPts val="1500"/>
              </a:spcBef>
            </a:pP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Discuss</a:t>
            </a:r>
            <a:r>
              <a:rPr sz="3000" b="1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10" dirty="0">
                <a:solidFill>
                  <a:srgbClr val="15203E"/>
                </a:solidFill>
                <a:latin typeface="Roboto"/>
                <a:cs typeface="Roboto"/>
              </a:rPr>
              <a:t>consequences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130" dirty="0">
                <a:solidFill>
                  <a:srgbClr val="15203E"/>
                </a:solidFill>
                <a:latin typeface="Roboto"/>
                <a:cs typeface="Roboto"/>
              </a:rPr>
              <a:t>o</a:t>
            </a:r>
            <a:r>
              <a:rPr lang="es-EC" sz="3000" spc="13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5" dirty="0">
                <a:solidFill>
                  <a:srgbClr val="15203E"/>
                </a:solidFill>
                <a:latin typeface="Roboto"/>
                <a:cs typeface="Roboto"/>
              </a:rPr>
              <a:t>negative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15" dirty="0">
                <a:solidFill>
                  <a:srgbClr val="15203E"/>
                </a:solidFill>
                <a:latin typeface="Roboto"/>
                <a:cs typeface="Roboto"/>
              </a:rPr>
              <a:t>effects</a:t>
            </a:r>
            <a:r>
              <a:rPr sz="3000" b="1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10" dirty="0">
                <a:solidFill>
                  <a:srgbClr val="15203E"/>
                </a:solidFill>
                <a:latin typeface="Roboto"/>
                <a:cs typeface="Roboto"/>
              </a:rPr>
              <a:t>of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the </a:t>
            </a:r>
            <a:r>
              <a:rPr sz="3000" b="1" spc="-7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40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b="1" spc="4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40" dirty="0" err="1">
                <a:solidFill>
                  <a:srgbClr val="15203E"/>
                </a:solidFill>
                <a:latin typeface="Roboto"/>
                <a:cs typeface="Roboto"/>
              </a:rPr>
              <a:t>oblem</a:t>
            </a:r>
            <a:r>
              <a:rPr sz="3000" b="1" spc="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on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individuals,</a:t>
            </a:r>
            <a:r>
              <a:rPr sz="3000" b="1" spc="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communities,</a:t>
            </a:r>
            <a:r>
              <a:rPr sz="3000" b="1" spc="1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135" dirty="0">
                <a:solidFill>
                  <a:srgbClr val="15203E"/>
                </a:solidFill>
                <a:latin typeface="Roboto"/>
                <a:cs typeface="Roboto"/>
              </a:rPr>
              <a:t>o</a:t>
            </a:r>
            <a:r>
              <a:rPr lang="es-EC" sz="3000" b="1" spc="13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society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.</a:t>
            </a:r>
            <a:r>
              <a:rPr lang="es-ES" sz="3000" spc="-5" dirty="0">
                <a:solidFill>
                  <a:srgbClr val="15203E"/>
                </a:solidFill>
                <a:latin typeface="Roboto"/>
                <a:cs typeface="Roboto"/>
              </a:rPr>
              <a:t> (2-max)</a:t>
            </a:r>
            <a:endParaRPr sz="3000" dirty="0">
              <a:latin typeface="Roboto"/>
              <a:cs typeface="Robot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84380" y="7552943"/>
            <a:ext cx="23088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14359"/>
          </a:xfrm>
          <a:custGeom>
            <a:avLst/>
            <a:gdLst/>
            <a:ahLst/>
            <a:cxnLst/>
            <a:rect l="l" t="t" r="r" b="b"/>
            <a:pathLst>
              <a:path w="14630400" h="8214359">
                <a:moveTo>
                  <a:pt x="0" y="8214358"/>
                </a:moveTo>
                <a:lnTo>
                  <a:pt x="14630400" y="8214358"/>
                </a:lnTo>
                <a:lnTo>
                  <a:pt x="14630400" y="0"/>
                </a:lnTo>
                <a:lnTo>
                  <a:pt x="0" y="0"/>
                </a:lnTo>
                <a:lnTo>
                  <a:pt x="0" y="8214358"/>
                </a:lnTo>
                <a:close/>
              </a:path>
            </a:pathLst>
          </a:custGeom>
          <a:solidFill>
            <a:srgbClr val="FAFBF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5968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6794" y="2924378"/>
            <a:ext cx="732790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>
                <a:solidFill>
                  <a:srgbClr val="466ED5"/>
                </a:solidFill>
              </a:rPr>
              <a:t>3.</a:t>
            </a:r>
            <a:r>
              <a:rPr spc="15" dirty="0">
                <a:solidFill>
                  <a:srgbClr val="466ED5"/>
                </a:solidFill>
              </a:rPr>
              <a:t> </a:t>
            </a:r>
            <a:r>
              <a:rPr spc="110" dirty="0">
                <a:solidFill>
                  <a:srgbClr val="466ED5"/>
                </a:solidFill>
              </a:rPr>
              <a:t>Proposed</a:t>
            </a:r>
            <a:r>
              <a:rPr spc="30" dirty="0">
                <a:solidFill>
                  <a:srgbClr val="466ED5"/>
                </a:solidFill>
              </a:rPr>
              <a:t> </a:t>
            </a:r>
            <a:r>
              <a:rPr spc="170" dirty="0">
                <a:solidFill>
                  <a:srgbClr val="466ED5"/>
                </a:solidFill>
              </a:rPr>
              <a:t>solutions</a:t>
            </a:r>
            <a:r>
              <a:rPr spc="35" dirty="0">
                <a:solidFill>
                  <a:srgbClr val="466ED5"/>
                </a:solidFill>
              </a:rPr>
              <a:t> </a:t>
            </a:r>
            <a:r>
              <a:rPr spc="-150" dirty="0">
                <a:solidFill>
                  <a:srgbClr val="466ED5"/>
                </a:solidFill>
              </a:rPr>
              <a:t>(1')</a:t>
            </a:r>
          </a:p>
        </p:txBody>
      </p:sp>
      <p:sp>
        <p:nvSpPr>
          <p:cNvPr id="5" name="object 5"/>
          <p:cNvSpPr/>
          <p:nvPr/>
        </p:nvSpPr>
        <p:spPr>
          <a:xfrm>
            <a:off x="1470660" y="4128515"/>
            <a:ext cx="1195070" cy="3533140"/>
          </a:xfrm>
          <a:custGeom>
            <a:avLst/>
            <a:gdLst/>
            <a:ahLst/>
            <a:cxnLst/>
            <a:rect l="l" t="t" r="r" b="b"/>
            <a:pathLst>
              <a:path w="1195070" h="3533140">
                <a:moveTo>
                  <a:pt x="1194816" y="248412"/>
                </a:moveTo>
                <a:lnTo>
                  <a:pt x="467868" y="248412"/>
                </a:lnTo>
                <a:lnTo>
                  <a:pt x="467868" y="159766"/>
                </a:lnTo>
                <a:lnTo>
                  <a:pt x="458050" y="111252"/>
                </a:lnTo>
                <a:lnTo>
                  <a:pt x="431317" y="71602"/>
                </a:lnTo>
                <a:lnTo>
                  <a:pt x="391668" y="44869"/>
                </a:lnTo>
                <a:lnTo>
                  <a:pt x="343154" y="35052"/>
                </a:lnTo>
                <a:lnTo>
                  <a:pt x="217932" y="35052"/>
                </a:lnTo>
                <a:lnTo>
                  <a:pt x="217932" y="0"/>
                </a:lnTo>
                <a:lnTo>
                  <a:pt x="176784" y="0"/>
                </a:lnTo>
                <a:lnTo>
                  <a:pt x="176784" y="35052"/>
                </a:lnTo>
                <a:lnTo>
                  <a:pt x="124714" y="35052"/>
                </a:lnTo>
                <a:lnTo>
                  <a:pt x="76187" y="44869"/>
                </a:lnTo>
                <a:lnTo>
                  <a:pt x="36537" y="71602"/>
                </a:lnTo>
                <a:lnTo>
                  <a:pt x="9804" y="111252"/>
                </a:lnTo>
                <a:lnTo>
                  <a:pt x="0" y="159766"/>
                </a:lnTo>
                <a:lnTo>
                  <a:pt x="0" y="378206"/>
                </a:lnTo>
                <a:lnTo>
                  <a:pt x="9804" y="426732"/>
                </a:lnTo>
                <a:lnTo>
                  <a:pt x="36537" y="466382"/>
                </a:lnTo>
                <a:lnTo>
                  <a:pt x="76187" y="493115"/>
                </a:lnTo>
                <a:lnTo>
                  <a:pt x="124714" y="502920"/>
                </a:lnTo>
                <a:lnTo>
                  <a:pt x="176784" y="502920"/>
                </a:lnTo>
                <a:lnTo>
                  <a:pt x="176784" y="3532632"/>
                </a:lnTo>
                <a:lnTo>
                  <a:pt x="217932" y="3532632"/>
                </a:lnTo>
                <a:lnTo>
                  <a:pt x="217932" y="502920"/>
                </a:lnTo>
                <a:lnTo>
                  <a:pt x="343154" y="502920"/>
                </a:lnTo>
                <a:lnTo>
                  <a:pt x="391668" y="493115"/>
                </a:lnTo>
                <a:lnTo>
                  <a:pt x="431317" y="466382"/>
                </a:lnTo>
                <a:lnTo>
                  <a:pt x="458050" y="426732"/>
                </a:lnTo>
                <a:lnTo>
                  <a:pt x="467868" y="378206"/>
                </a:lnTo>
                <a:lnTo>
                  <a:pt x="467868" y="289560"/>
                </a:lnTo>
                <a:lnTo>
                  <a:pt x="1194816" y="289560"/>
                </a:lnTo>
                <a:lnTo>
                  <a:pt x="1194816" y="248412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14297" y="4150563"/>
            <a:ext cx="1828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5" dirty="0">
                <a:solidFill>
                  <a:srgbClr val="466ED5"/>
                </a:solidFill>
                <a:latin typeface="Georgia"/>
                <a:cs typeface="Georgia"/>
              </a:rPr>
              <a:t>1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6460" y="3963415"/>
            <a:ext cx="9186545" cy="123380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3000" spc="80" dirty="0">
                <a:solidFill>
                  <a:srgbClr val="466ED5"/>
                </a:solidFill>
                <a:latin typeface="Georgia"/>
                <a:cs typeface="Georgia"/>
              </a:rPr>
              <a:t>Multiple</a:t>
            </a:r>
            <a:r>
              <a:rPr sz="3000" dirty="0">
                <a:solidFill>
                  <a:srgbClr val="466ED5"/>
                </a:solidFill>
                <a:latin typeface="Georgia"/>
                <a:cs typeface="Georgia"/>
              </a:rPr>
              <a:t> </a:t>
            </a:r>
            <a:r>
              <a:rPr sz="3000" spc="90" dirty="0">
                <a:solidFill>
                  <a:srgbClr val="466ED5"/>
                </a:solidFill>
                <a:latin typeface="Georgia"/>
                <a:cs typeface="Georgia"/>
              </a:rPr>
              <a:t>Solutions</a:t>
            </a:r>
            <a:endParaRPr sz="3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  <a:tabLst>
                <a:tab pos="7261225" algn="l"/>
              </a:tabLst>
            </a:pP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De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s</a:t>
            </a:r>
            <a:r>
              <a:rPr sz="3000" b="1" spc="65" dirty="0">
                <a:solidFill>
                  <a:srgbClr val="15203E"/>
                </a:solidFill>
                <a:latin typeface="Roboto"/>
                <a:cs typeface="Roboto"/>
              </a:rPr>
              <a:t>c</a:t>
            </a:r>
            <a:r>
              <a:rPr lang="es-EC" sz="3000" b="1" spc="6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65" dirty="0" err="1">
                <a:solidFill>
                  <a:srgbClr val="15203E"/>
                </a:solidFill>
                <a:latin typeface="Roboto"/>
                <a:cs typeface="Roboto"/>
              </a:rPr>
              <a:t>ibe</a:t>
            </a:r>
            <a:r>
              <a:rPr sz="3000" b="1" spc="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poten</a:t>
            </a:r>
            <a:r>
              <a:rPr sz="3000" b="1" spc="5" dirty="0">
                <a:solidFill>
                  <a:srgbClr val="15203E"/>
                </a:solidFill>
                <a:latin typeface="Roboto"/>
                <a:cs typeface="Roboto"/>
              </a:rPr>
              <a:t>t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ial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25" dirty="0">
                <a:solidFill>
                  <a:srgbClr val="15203E"/>
                </a:solidFill>
                <a:latin typeface="Roboto"/>
                <a:cs typeface="Roboto"/>
              </a:rPr>
              <a:t>s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olutions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180" dirty="0">
                <a:solidFill>
                  <a:srgbClr val="15203E"/>
                </a:solidFill>
                <a:latin typeface="Roboto"/>
                <a:cs typeface="Roboto"/>
              </a:rPr>
              <a:t>o</a:t>
            </a:r>
            <a:r>
              <a:rPr lang="es-EC" sz="3000" b="1" spc="9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90" dirty="0" err="1">
                <a:solidFill>
                  <a:srgbClr val="15203E"/>
                </a:solidFill>
                <a:latin typeface="Roboto"/>
                <a:cs typeface="Roboto"/>
              </a:rPr>
              <a:t>st</a:t>
            </a:r>
            <a:r>
              <a:rPr lang="es-EC" sz="3000" b="1" spc="6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-30" dirty="0" err="1">
                <a:solidFill>
                  <a:srgbClr val="15203E"/>
                </a:solidFill>
                <a:latin typeface="Roboto"/>
                <a:cs typeface="Roboto"/>
              </a:rPr>
              <a:t>a</a:t>
            </a:r>
            <a:r>
              <a:rPr sz="3000" b="1" spc="-10" dirty="0" err="1">
                <a:solidFill>
                  <a:srgbClr val="15203E"/>
                </a:solidFill>
                <a:latin typeface="Roboto"/>
                <a:cs typeface="Roboto"/>
              </a:rPr>
              <a:t>t</a:t>
            </a:r>
            <a:r>
              <a:rPr sz="3000" b="1" spc="15" dirty="0" err="1">
                <a:solidFill>
                  <a:srgbClr val="15203E"/>
                </a:solidFill>
                <a:latin typeface="Roboto"/>
                <a:cs typeface="Roboto"/>
              </a:rPr>
              <a:t>egie</a:t>
            </a:r>
            <a:r>
              <a:rPr sz="3000" b="1" spc="20" dirty="0" err="1">
                <a:solidFill>
                  <a:srgbClr val="15203E"/>
                </a:solidFill>
                <a:latin typeface="Roboto"/>
                <a:cs typeface="Roboto"/>
              </a:rPr>
              <a:t>s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	</a:t>
            </a:r>
            <a:r>
              <a:rPr sz="3000" spc="10" dirty="0">
                <a:solidFill>
                  <a:srgbClr val="15203E"/>
                </a:solidFill>
                <a:latin typeface="Roboto"/>
                <a:cs typeface="Roboto"/>
              </a:rPr>
              <a:t>(2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525" dirty="0">
                <a:solidFill>
                  <a:srgbClr val="15203E"/>
                </a:solidFill>
                <a:latin typeface="Roboto"/>
                <a:cs typeface="Roboto"/>
              </a:rPr>
              <a:t>-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max).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70660" y="6033515"/>
            <a:ext cx="1195070" cy="467995"/>
          </a:xfrm>
          <a:custGeom>
            <a:avLst/>
            <a:gdLst/>
            <a:ahLst/>
            <a:cxnLst/>
            <a:rect l="l" t="t" r="r" b="b"/>
            <a:pathLst>
              <a:path w="1195070" h="467995">
                <a:moveTo>
                  <a:pt x="1194816" y="213360"/>
                </a:moveTo>
                <a:lnTo>
                  <a:pt x="467868" y="213360"/>
                </a:lnTo>
                <a:lnTo>
                  <a:pt x="467868" y="124714"/>
                </a:lnTo>
                <a:lnTo>
                  <a:pt x="458050" y="76200"/>
                </a:lnTo>
                <a:lnTo>
                  <a:pt x="431317" y="36550"/>
                </a:lnTo>
                <a:lnTo>
                  <a:pt x="391668" y="9817"/>
                </a:lnTo>
                <a:lnTo>
                  <a:pt x="343154" y="0"/>
                </a:lnTo>
                <a:lnTo>
                  <a:pt x="124714" y="0"/>
                </a:lnTo>
                <a:lnTo>
                  <a:pt x="76187" y="9817"/>
                </a:lnTo>
                <a:lnTo>
                  <a:pt x="36537" y="36550"/>
                </a:lnTo>
                <a:lnTo>
                  <a:pt x="9804" y="76200"/>
                </a:lnTo>
                <a:lnTo>
                  <a:pt x="0" y="124714"/>
                </a:lnTo>
                <a:lnTo>
                  <a:pt x="0" y="343154"/>
                </a:lnTo>
                <a:lnTo>
                  <a:pt x="9804" y="391680"/>
                </a:lnTo>
                <a:lnTo>
                  <a:pt x="36537" y="431330"/>
                </a:lnTo>
                <a:lnTo>
                  <a:pt x="76187" y="458063"/>
                </a:lnTo>
                <a:lnTo>
                  <a:pt x="124714" y="467868"/>
                </a:lnTo>
                <a:lnTo>
                  <a:pt x="343154" y="467868"/>
                </a:lnTo>
                <a:lnTo>
                  <a:pt x="391668" y="458063"/>
                </a:lnTo>
                <a:lnTo>
                  <a:pt x="431317" y="431330"/>
                </a:lnTo>
                <a:lnTo>
                  <a:pt x="458050" y="391680"/>
                </a:lnTo>
                <a:lnTo>
                  <a:pt x="467868" y="343154"/>
                </a:lnTo>
                <a:lnTo>
                  <a:pt x="467868" y="254508"/>
                </a:lnTo>
                <a:lnTo>
                  <a:pt x="1194816" y="254508"/>
                </a:lnTo>
                <a:lnTo>
                  <a:pt x="1194816" y="213360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86864" y="6020765"/>
            <a:ext cx="2362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466ED5"/>
                </a:solidFill>
                <a:latin typeface="Georgia"/>
                <a:cs typeface="Georgia"/>
              </a:rPr>
              <a:t>2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6460" y="5833617"/>
            <a:ext cx="11151870" cy="123380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3000" spc="90" dirty="0">
                <a:solidFill>
                  <a:srgbClr val="466ED5"/>
                </a:solidFill>
                <a:latin typeface="Georgia"/>
                <a:cs typeface="Georgia"/>
              </a:rPr>
              <a:t>Benefits</a:t>
            </a:r>
            <a:endParaRPr sz="3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Highlight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advantages</a:t>
            </a:r>
            <a:r>
              <a:rPr sz="3000" b="1" spc="-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and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5" dirty="0">
                <a:solidFill>
                  <a:srgbClr val="15203E"/>
                </a:solidFill>
                <a:latin typeface="Roboto"/>
                <a:cs typeface="Roboto"/>
              </a:rPr>
              <a:t>benefits</a:t>
            </a:r>
            <a:r>
              <a:rPr sz="3000" b="1" spc="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of</a:t>
            </a: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each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5" dirty="0" err="1">
                <a:solidFill>
                  <a:srgbClr val="15203E"/>
                </a:solidFill>
                <a:latin typeface="Roboto"/>
                <a:cs typeface="Roboto"/>
              </a:rPr>
              <a:t>oposed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solution.</a:t>
            </a:r>
            <a:endParaRPr sz="3000" dirty="0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68783" y="7609330"/>
            <a:ext cx="2214372" cy="528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31505"/>
          </a:xfrm>
          <a:custGeom>
            <a:avLst/>
            <a:gdLst/>
            <a:ahLst/>
            <a:cxnLst/>
            <a:rect l="l" t="t" r="r" b="b"/>
            <a:pathLst>
              <a:path w="14630400" h="8231505">
                <a:moveTo>
                  <a:pt x="14630400" y="0"/>
                </a:moveTo>
                <a:lnTo>
                  <a:pt x="0" y="0"/>
                </a:lnTo>
                <a:lnTo>
                  <a:pt x="0" y="8231124"/>
                </a:lnTo>
                <a:lnTo>
                  <a:pt x="14630400" y="8231124"/>
                </a:lnTo>
                <a:lnTo>
                  <a:pt x="14630400" y="0"/>
                </a:lnTo>
                <a:close/>
              </a:path>
            </a:pathLst>
          </a:custGeom>
          <a:solidFill>
            <a:srgbClr val="FAFBF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144000" y="0"/>
            <a:ext cx="5486400" cy="8229600"/>
            <a:chOff x="9144000" y="0"/>
            <a:chExt cx="5486400" cy="8229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0"/>
              <a:ext cx="5486400" cy="82295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42292" y="7589518"/>
              <a:ext cx="2296667" cy="54863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2548" y="469468"/>
            <a:ext cx="562864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>
                <a:solidFill>
                  <a:srgbClr val="466ED5"/>
                </a:solidFill>
              </a:rPr>
              <a:t>4.</a:t>
            </a:r>
            <a:r>
              <a:rPr spc="-15" dirty="0">
                <a:solidFill>
                  <a:srgbClr val="466ED5"/>
                </a:solidFill>
              </a:rPr>
              <a:t> </a:t>
            </a:r>
            <a:r>
              <a:rPr spc="180" dirty="0">
                <a:solidFill>
                  <a:srgbClr val="466ED5"/>
                </a:solidFill>
              </a:rPr>
              <a:t>C</a:t>
            </a:r>
            <a:r>
              <a:rPr lang="es-ES" spc="180" dirty="0" err="1">
                <a:solidFill>
                  <a:srgbClr val="466ED5"/>
                </a:solidFill>
              </a:rPr>
              <a:t>losi</a:t>
            </a:r>
            <a:r>
              <a:rPr spc="180" dirty="0">
                <a:solidFill>
                  <a:srgbClr val="466ED5"/>
                </a:solidFill>
              </a:rPr>
              <a:t>n</a:t>
            </a:r>
            <a:r>
              <a:rPr lang="es-ES" spc="180" dirty="0">
                <a:solidFill>
                  <a:srgbClr val="466ED5"/>
                </a:solidFill>
              </a:rPr>
              <a:t>g</a:t>
            </a:r>
            <a:r>
              <a:rPr spc="-25" dirty="0">
                <a:solidFill>
                  <a:srgbClr val="466ED5"/>
                </a:solidFill>
              </a:rPr>
              <a:t> </a:t>
            </a:r>
            <a:r>
              <a:rPr spc="-125" dirty="0">
                <a:solidFill>
                  <a:srgbClr val="466ED5"/>
                </a:solidFill>
              </a:rPr>
              <a:t>(30'')</a:t>
            </a:r>
          </a:p>
        </p:txBody>
      </p:sp>
      <p:sp>
        <p:nvSpPr>
          <p:cNvPr id="7" name="object 7"/>
          <p:cNvSpPr/>
          <p:nvPr/>
        </p:nvSpPr>
        <p:spPr>
          <a:xfrm>
            <a:off x="627888" y="1546872"/>
            <a:ext cx="1300480" cy="6108700"/>
          </a:xfrm>
          <a:custGeom>
            <a:avLst/>
            <a:gdLst/>
            <a:ahLst/>
            <a:cxnLst/>
            <a:rect l="l" t="t" r="r" b="b"/>
            <a:pathLst>
              <a:path w="1300480" h="6108700">
                <a:moveTo>
                  <a:pt x="1299972" y="379463"/>
                </a:moveTo>
                <a:lnTo>
                  <a:pt x="531876" y="379463"/>
                </a:lnTo>
                <a:lnTo>
                  <a:pt x="531876" y="290182"/>
                </a:lnTo>
                <a:lnTo>
                  <a:pt x="521995" y="241312"/>
                </a:lnTo>
                <a:lnTo>
                  <a:pt x="495084" y="201383"/>
                </a:lnTo>
                <a:lnTo>
                  <a:pt x="455168" y="174459"/>
                </a:lnTo>
                <a:lnTo>
                  <a:pt x="406298" y="164579"/>
                </a:lnTo>
                <a:lnTo>
                  <a:pt x="262128" y="164579"/>
                </a:lnTo>
                <a:lnTo>
                  <a:pt x="262128" y="0"/>
                </a:lnTo>
                <a:lnTo>
                  <a:pt x="214884" y="0"/>
                </a:lnTo>
                <a:lnTo>
                  <a:pt x="214884" y="164579"/>
                </a:lnTo>
                <a:lnTo>
                  <a:pt x="125577" y="164579"/>
                </a:lnTo>
                <a:lnTo>
                  <a:pt x="76695" y="174459"/>
                </a:lnTo>
                <a:lnTo>
                  <a:pt x="36779" y="201383"/>
                </a:lnTo>
                <a:lnTo>
                  <a:pt x="9867" y="241312"/>
                </a:lnTo>
                <a:lnTo>
                  <a:pt x="0" y="290182"/>
                </a:lnTo>
                <a:lnTo>
                  <a:pt x="0" y="509892"/>
                </a:lnTo>
                <a:lnTo>
                  <a:pt x="9867" y="558774"/>
                </a:lnTo>
                <a:lnTo>
                  <a:pt x="36779" y="598703"/>
                </a:lnTo>
                <a:lnTo>
                  <a:pt x="76695" y="625627"/>
                </a:lnTo>
                <a:lnTo>
                  <a:pt x="125577" y="635495"/>
                </a:lnTo>
                <a:lnTo>
                  <a:pt x="214884" y="635495"/>
                </a:lnTo>
                <a:lnTo>
                  <a:pt x="214884" y="6108179"/>
                </a:lnTo>
                <a:lnTo>
                  <a:pt x="262128" y="6108179"/>
                </a:lnTo>
                <a:lnTo>
                  <a:pt x="262128" y="635495"/>
                </a:lnTo>
                <a:lnTo>
                  <a:pt x="406298" y="635495"/>
                </a:lnTo>
                <a:lnTo>
                  <a:pt x="455168" y="625627"/>
                </a:lnTo>
                <a:lnTo>
                  <a:pt x="495084" y="598703"/>
                </a:lnTo>
                <a:lnTo>
                  <a:pt x="521995" y="558774"/>
                </a:lnTo>
                <a:lnTo>
                  <a:pt x="531876" y="509892"/>
                </a:lnTo>
                <a:lnTo>
                  <a:pt x="531876" y="420611"/>
                </a:lnTo>
                <a:lnTo>
                  <a:pt x="1299972" y="420611"/>
                </a:lnTo>
                <a:lnTo>
                  <a:pt x="1299972" y="379463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1304" y="1698116"/>
            <a:ext cx="182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5" dirty="0">
                <a:solidFill>
                  <a:srgbClr val="466ED5"/>
                </a:solidFill>
                <a:latin typeface="Georgia"/>
                <a:cs typeface="Georgia"/>
              </a:rPr>
              <a:t>1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5880" y="1501266"/>
            <a:ext cx="6581775" cy="208661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3000" spc="75" dirty="0">
                <a:solidFill>
                  <a:srgbClr val="466ED5"/>
                </a:solidFill>
                <a:latin typeface="Georgia"/>
                <a:cs typeface="Georgia"/>
              </a:rPr>
              <a:t>Recap</a:t>
            </a:r>
            <a:endParaRPr sz="3000" dirty="0">
              <a:latin typeface="Georgia"/>
              <a:cs typeface="Georgia"/>
            </a:endParaRPr>
          </a:p>
          <a:p>
            <a:pPr marL="12700" marR="5080">
              <a:lnSpc>
                <a:spcPct val="91200"/>
              </a:lnSpc>
              <a:spcBef>
                <a:spcPts val="1545"/>
              </a:spcBef>
            </a:pPr>
            <a:r>
              <a:rPr sz="3000" b="1" spc="30" dirty="0">
                <a:solidFill>
                  <a:srgbClr val="15203E"/>
                </a:solidFill>
                <a:latin typeface="Roboto"/>
                <a:cs typeface="Roboto"/>
              </a:rPr>
              <a:t>Summa</a:t>
            </a:r>
            <a:r>
              <a:rPr lang="es-EC" sz="3000" b="1" spc="3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30" dirty="0" err="1">
                <a:solidFill>
                  <a:srgbClr val="15203E"/>
                </a:solidFill>
                <a:latin typeface="Roboto"/>
                <a:cs typeface="Roboto"/>
              </a:rPr>
              <a:t>ise</a:t>
            </a:r>
            <a:r>
              <a:rPr sz="3000" b="1" spc="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the 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main points 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of you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spc="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5" dirty="0" err="1">
                <a:solidFill>
                  <a:srgbClr val="15203E"/>
                </a:solidFill>
                <a:latin typeface="Roboto"/>
                <a:cs typeface="Roboto"/>
              </a:rPr>
              <a:t>esentation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, </a:t>
            </a:r>
            <a:r>
              <a:rPr sz="3000" spc="-35" dirty="0">
                <a:solidFill>
                  <a:srgbClr val="15203E"/>
                </a:solidFill>
                <a:latin typeface="Roboto"/>
                <a:cs typeface="Roboto"/>
              </a:rPr>
              <a:t>including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the 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5" dirty="0" err="1">
                <a:solidFill>
                  <a:srgbClr val="15203E"/>
                </a:solidFill>
                <a:latin typeface="Roboto"/>
                <a:cs typeface="Roboto"/>
              </a:rPr>
              <a:t>oblem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,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its </a:t>
            </a:r>
            <a:r>
              <a:rPr sz="3000" spc="-73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causes,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and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5" dirty="0" err="1">
                <a:solidFill>
                  <a:srgbClr val="15203E"/>
                </a:solidFill>
                <a:latin typeface="Roboto"/>
                <a:cs typeface="Roboto"/>
              </a:rPr>
              <a:t>oposed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solution</a:t>
            </a:r>
            <a:r>
              <a:rPr lang="es-ES" sz="3000" spc="-25" dirty="0">
                <a:solidFill>
                  <a:srgbClr val="15203E"/>
                </a:solidFill>
                <a:latin typeface="Roboto"/>
                <a:cs typeface="Roboto"/>
              </a:rPr>
              <a:t>s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.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7888" y="4136135"/>
            <a:ext cx="1300480" cy="471170"/>
          </a:xfrm>
          <a:custGeom>
            <a:avLst/>
            <a:gdLst/>
            <a:ahLst/>
            <a:cxnLst/>
            <a:rect l="l" t="t" r="r" b="b"/>
            <a:pathLst>
              <a:path w="1300480" h="471170">
                <a:moveTo>
                  <a:pt x="1299972" y="214884"/>
                </a:moveTo>
                <a:lnTo>
                  <a:pt x="531876" y="214884"/>
                </a:lnTo>
                <a:lnTo>
                  <a:pt x="531876" y="125603"/>
                </a:lnTo>
                <a:lnTo>
                  <a:pt x="521995" y="76733"/>
                </a:lnTo>
                <a:lnTo>
                  <a:pt x="495084" y="36804"/>
                </a:lnTo>
                <a:lnTo>
                  <a:pt x="455168" y="9880"/>
                </a:lnTo>
                <a:lnTo>
                  <a:pt x="406298" y="0"/>
                </a:lnTo>
                <a:lnTo>
                  <a:pt x="125577" y="0"/>
                </a:lnTo>
                <a:lnTo>
                  <a:pt x="76695" y="9880"/>
                </a:lnTo>
                <a:lnTo>
                  <a:pt x="36779" y="36804"/>
                </a:lnTo>
                <a:lnTo>
                  <a:pt x="9867" y="76733"/>
                </a:lnTo>
                <a:lnTo>
                  <a:pt x="0" y="125603"/>
                </a:lnTo>
                <a:lnTo>
                  <a:pt x="0" y="345313"/>
                </a:lnTo>
                <a:lnTo>
                  <a:pt x="9867" y="394195"/>
                </a:lnTo>
                <a:lnTo>
                  <a:pt x="36779" y="434124"/>
                </a:lnTo>
                <a:lnTo>
                  <a:pt x="76695" y="461048"/>
                </a:lnTo>
                <a:lnTo>
                  <a:pt x="125577" y="470916"/>
                </a:lnTo>
                <a:lnTo>
                  <a:pt x="406298" y="470916"/>
                </a:lnTo>
                <a:lnTo>
                  <a:pt x="455168" y="461048"/>
                </a:lnTo>
                <a:lnTo>
                  <a:pt x="495084" y="434124"/>
                </a:lnTo>
                <a:lnTo>
                  <a:pt x="521995" y="394195"/>
                </a:lnTo>
                <a:lnTo>
                  <a:pt x="531876" y="345313"/>
                </a:lnTo>
                <a:lnTo>
                  <a:pt x="531876" y="256032"/>
                </a:lnTo>
                <a:lnTo>
                  <a:pt x="1299972" y="256032"/>
                </a:lnTo>
                <a:lnTo>
                  <a:pt x="1299972" y="214884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7224" y="4123435"/>
            <a:ext cx="236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466ED5"/>
                </a:solidFill>
                <a:latin typeface="Georgia"/>
                <a:cs typeface="Georgia"/>
              </a:rPr>
              <a:t>2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7888" y="6140195"/>
            <a:ext cx="1300480" cy="472440"/>
          </a:xfrm>
          <a:custGeom>
            <a:avLst/>
            <a:gdLst/>
            <a:ahLst/>
            <a:cxnLst/>
            <a:rect l="l" t="t" r="r" b="b"/>
            <a:pathLst>
              <a:path w="1300480" h="472440">
                <a:moveTo>
                  <a:pt x="1299972" y="214884"/>
                </a:moveTo>
                <a:lnTo>
                  <a:pt x="531876" y="214884"/>
                </a:lnTo>
                <a:lnTo>
                  <a:pt x="531876" y="125984"/>
                </a:lnTo>
                <a:lnTo>
                  <a:pt x="521970" y="76949"/>
                </a:lnTo>
                <a:lnTo>
                  <a:pt x="494969" y="36893"/>
                </a:lnTo>
                <a:lnTo>
                  <a:pt x="454926" y="9906"/>
                </a:lnTo>
                <a:lnTo>
                  <a:pt x="405892" y="0"/>
                </a:lnTo>
                <a:lnTo>
                  <a:pt x="125984" y="0"/>
                </a:lnTo>
                <a:lnTo>
                  <a:pt x="76936" y="9906"/>
                </a:lnTo>
                <a:lnTo>
                  <a:pt x="36893" y="36893"/>
                </a:lnTo>
                <a:lnTo>
                  <a:pt x="9893" y="76949"/>
                </a:lnTo>
                <a:lnTo>
                  <a:pt x="0" y="125984"/>
                </a:lnTo>
                <a:lnTo>
                  <a:pt x="0" y="346456"/>
                </a:lnTo>
                <a:lnTo>
                  <a:pt x="9893" y="395503"/>
                </a:lnTo>
                <a:lnTo>
                  <a:pt x="36893" y="435546"/>
                </a:lnTo>
                <a:lnTo>
                  <a:pt x="76936" y="462546"/>
                </a:lnTo>
                <a:lnTo>
                  <a:pt x="125984" y="472440"/>
                </a:lnTo>
                <a:lnTo>
                  <a:pt x="405892" y="472440"/>
                </a:lnTo>
                <a:lnTo>
                  <a:pt x="454926" y="462546"/>
                </a:lnTo>
                <a:lnTo>
                  <a:pt x="494969" y="435546"/>
                </a:lnTo>
                <a:lnTo>
                  <a:pt x="521970" y="395503"/>
                </a:lnTo>
                <a:lnTo>
                  <a:pt x="531876" y="346456"/>
                </a:lnTo>
                <a:lnTo>
                  <a:pt x="531876" y="257556"/>
                </a:lnTo>
                <a:lnTo>
                  <a:pt x="1299972" y="257556"/>
                </a:lnTo>
                <a:lnTo>
                  <a:pt x="1299972" y="214884"/>
                </a:lnTo>
                <a:close/>
              </a:path>
            </a:pathLst>
          </a:custGeom>
          <a:solidFill>
            <a:srgbClr val="E7E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9358" y="6129020"/>
            <a:ext cx="2317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40" dirty="0">
                <a:solidFill>
                  <a:srgbClr val="466ED5"/>
                </a:solidFill>
                <a:latin typeface="Georgia"/>
                <a:cs typeface="Georgia"/>
              </a:rPr>
              <a:t>3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5880" y="3925454"/>
            <a:ext cx="6581775" cy="327820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3000" spc="70" dirty="0">
                <a:solidFill>
                  <a:srgbClr val="466ED5"/>
                </a:solidFill>
                <a:latin typeface="Georgia"/>
                <a:cs typeface="Georgia"/>
              </a:rPr>
              <a:t>Call</a:t>
            </a:r>
            <a:r>
              <a:rPr sz="3000" spc="25" dirty="0">
                <a:solidFill>
                  <a:srgbClr val="466ED5"/>
                </a:solidFill>
                <a:latin typeface="Georgia"/>
                <a:cs typeface="Georgia"/>
              </a:rPr>
              <a:t> </a:t>
            </a:r>
            <a:r>
              <a:rPr sz="3000" spc="30" dirty="0">
                <a:solidFill>
                  <a:srgbClr val="466ED5"/>
                </a:solidFill>
                <a:latin typeface="Georgia"/>
                <a:cs typeface="Georgia"/>
              </a:rPr>
              <a:t>to</a:t>
            </a:r>
            <a:r>
              <a:rPr sz="3000" dirty="0">
                <a:solidFill>
                  <a:srgbClr val="466ED5"/>
                </a:solidFill>
                <a:latin typeface="Georgia"/>
                <a:cs typeface="Georgia"/>
              </a:rPr>
              <a:t> </a:t>
            </a:r>
            <a:r>
              <a:rPr sz="3000" spc="125" dirty="0">
                <a:solidFill>
                  <a:srgbClr val="466ED5"/>
                </a:solidFill>
                <a:latin typeface="Georgia"/>
                <a:cs typeface="Georgia"/>
              </a:rPr>
              <a:t>Action</a:t>
            </a:r>
            <a:endParaRPr sz="3000" dirty="0">
              <a:latin typeface="Georgia"/>
              <a:cs typeface="Georgia"/>
            </a:endParaRPr>
          </a:p>
          <a:p>
            <a:pPr marL="12700" marR="5080">
              <a:lnSpc>
                <a:spcPct val="91200"/>
              </a:lnSpc>
              <a:spcBef>
                <a:spcPts val="1550"/>
              </a:spcBef>
            </a:pPr>
            <a:r>
              <a:rPr sz="3000" b="1" spc="35" dirty="0" err="1">
                <a:solidFill>
                  <a:srgbClr val="15203E"/>
                </a:solidFill>
                <a:latin typeface="Roboto"/>
                <a:cs typeface="Roboto"/>
              </a:rPr>
              <a:t>Encou</a:t>
            </a:r>
            <a:r>
              <a:rPr lang="es-EC" sz="3000" b="1" spc="3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35" dirty="0">
                <a:solidFill>
                  <a:srgbClr val="15203E"/>
                </a:solidFill>
                <a:latin typeface="Roboto"/>
                <a:cs typeface="Roboto"/>
              </a:rPr>
              <a:t>age</a:t>
            </a:r>
            <a:r>
              <a:rPr lang="es-ES" sz="3000" b="1" spc="35" dirty="0">
                <a:solidFill>
                  <a:srgbClr val="15203E"/>
                </a:solidFill>
                <a:latin typeface="Roboto"/>
                <a:cs typeface="Roboto"/>
              </a:rPr>
              <a:t> and invite</a:t>
            </a:r>
            <a:r>
              <a:rPr sz="3000" b="1" spc="3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55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lang="es-EC" sz="3000" b="1" spc="5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b="1" spc="5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5" dirty="0">
                <a:solidFill>
                  <a:srgbClr val="15203E"/>
                </a:solidFill>
                <a:latin typeface="Roboto"/>
                <a:cs typeface="Roboto"/>
              </a:rPr>
              <a:t>audience 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to </a:t>
            </a:r>
            <a:r>
              <a:rPr sz="3000" b="1" spc="-5" dirty="0">
                <a:solidFill>
                  <a:srgbClr val="15203E"/>
                </a:solidFill>
                <a:latin typeface="Roboto"/>
                <a:cs typeface="Roboto"/>
              </a:rPr>
              <a:t>take </a:t>
            </a:r>
            <a:r>
              <a:rPr sz="3000" b="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action </a:t>
            </a:r>
            <a:r>
              <a:rPr sz="3000" spc="130" dirty="0">
                <a:solidFill>
                  <a:srgbClr val="15203E"/>
                </a:solidFill>
                <a:latin typeface="Roboto"/>
                <a:cs typeface="Roboto"/>
              </a:rPr>
              <a:t>o</a:t>
            </a:r>
            <a:r>
              <a:rPr lang="es-EC" sz="3000" spc="13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1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10" dirty="0" err="1">
                <a:solidFill>
                  <a:srgbClr val="15203E"/>
                </a:solidFill>
                <a:latin typeface="Roboto"/>
                <a:cs typeface="Roboto"/>
              </a:rPr>
              <a:t>suppo</a:t>
            </a:r>
            <a:r>
              <a:rPr lang="es-EC" sz="3000" spc="1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10" dirty="0">
                <a:solidFill>
                  <a:srgbClr val="15203E"/>
                </a:solidFill>
                <a:latin typeface="Roboto"/>
                <a:cs typeface="Roboto"/>
              </a:rPr>
              <a:t>t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the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implementation </a:t>
            </a:r>
            <a:r>
              <a:rPr sz="3000" spc="-73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of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solution.</a:t>
            </a:r>
            <a:r>
              <a:rPr lang="es-ES" sz="3000" spc="-25" dirty="0">
                <a:solidFill>
                  <a:srgbClr val="15203E"/>
                </a:solidFill>
                <a:latin typeface="Roboto"/>
                <a:cs typeface="Roboto"/>
              </a:rPr>
              <a:t> (1 min)</a:t>
            </a:r>
            <a:endParaRPr sz="3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000" spc="100" dirty="0">
                <a:solidFill>
                  <a:srgbClr val="466ED5"/>
                </a:solidFill>
                <a:latin typeface="Georgia"/>
                <a:cs typeface="Georgia"/>
              </a:rPr>
              <a:t>Closing</a:t>
            </a:r>
            <a:endParaRPr sz="3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3000" b="1" spc="-15" dirty="0">
                <a:solidFill>
                  <a:srgbClr val="15203E"/>
                </a:solidFill>
                <a:latin typeface="Roboto"/>
                <a:cs typeface="Roboto"/>
              </a:rPr>
              <a:t>Say</a:t>
            </a:r>
            <a:r>
              <a:rPr sz="3000" b="1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40" dirty="0">
                <a:solidFill>
                  <a:srgbClr val="15203E"/>
                </a:solidFill>
                <a:latin typeface="Roboto"/>
                <a:cs typeface="Roboto"/>
              </a:rPr>
              <a:t>thank</a:t>
            </a: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50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and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bye.</a:t>
            </a:r>
            <a:endParaRPr sz="30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7782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16195" y="3008833"/>
            <a:ext cx="533527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65" dirty="0">
                <a:solidFill>
                  <a:srgbClr val="466ED5"/>
                </a:solidFill>
              </a:rPr>
              <a:t>Time</a:t>
            </a:r>
            <a:r>
              <a:rPr spc="-75" dirty="0">
                <a:solidFill>
                  <a:srgbClr val="466ED5"/>
                </a:solidFill>
              </a:rPr>
              <a:t> </a:t>
            </a:r>
            <a:r>
              <a:rPr spc="80" dirty="0">
                <a:solidFill>
                  <a:srgbClr val="466ED5"/>
                </a:solidFill>
              </a:rPr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28188" y="4960365"/>
            <a:ext cx="5249545" cy="464820"/>
          </a:xfrm>
          <a:prstGeom prst="rect">
            <a:avLst/>
          </a:prstGeom>
          <a:solidFill>
            <a:srgbClr val="EAEE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5"/>
              </a:lnSpc>
            </a:pPr>
            <a:r>
              <a:rPr sz="3000" spc="-5" dirty="0">
                <a:solidFill>
                  <a:srgbClr val="15203E"/>
                </a:solidFill>
                <a:latin typeface="Consolas"/>
                <a:cs typeface="Consolas"/>
              </a:rPr>
              <a:t>Introduction</a:t>
            </a:r>
            <a:r>
              <a:rPr sz="3000" spc="-30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(30</a:t>
            </a:r>
            <a:r>
              <a:rPr sz="3000" spc="-40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seconds)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8188" y="5523991"/>
            <a:ext cx="6296660" cy="464820"/>
          </a:xfrm>
          <a:prstGeom prst="rect">
            <a:avLst/>
          </a:prstGeom>
          <a:solidFill>
            <a:srgbClr val="EAEE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5"/>
              </a:lnSpc>
            </a:pPr>
            <a:r>
              <a:rPr sz="3000" spc="-5" dirty="0">
                <a:solidFill>
                  <a:srgbClr val="15203E"/>
                </a:solidFill>
                <a:latin typeface="Consolas"/>
                <a:cs typeface="Consolas"/>
              </a:rPr>
              <a:t>Problem</a:t>
            </a:r>
            <a:r>
              <a:rPr sz="3000" spc="-15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spc="-5" dirty="0">
                <a:solidFill>
                  <a:srgbClr val="15203E"/>
                </a:solidFill>
                <a:latin typeface="Consolas"/>
                <a:cs typeface="Consolas"/>
              </a:rPr>
              <a:t>explanation</a:t>
            </a:r>
            <a:r>
              <a:rPr sz="3000" spc="-15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(1</a:t>
            </a:r>
            <a:r>
              <a:rPr sz="3000" spc="-10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minute)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8188" y="6087617"/>
            <a:ext cx="6085840" cy="464820"/>
          </a:xfrm>
          <a:prstGeom prst="rect">
            <a:avLst/>
          </a:prstGeom>
          <a:solidFill>
            <a:srgbClr val="EAEE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9"/>
              </a:lnSpc>
            </a:pPr>
            <a:r>
              <a:rPr sz="3000" spc="-5" dirty="0">
                <a:solidFill>
                  <a:srgbClr val="15203E"/>
                </a:solidFill>
                <a:latin typeface="Consolas"/>
                <a:cs typeface="Consolas"/>
              </a:rPr>
              <a:t>Proposed</a:t>
            </a:r>
            <a:r>
              <a:rPr sz="3000" spc="-15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spc="-5" dirty="0">
                <a:solidFill>
                  <a:srgbClr val="15203E"/>
                </a:solidFill>
                <a:latin typeface="Consolas"/>
                <a:cs typeface="Consolas"/>
              </a:rPr>
              <a:t>solutions</a:t>
            </a:r>
            <a:r>
              <a:rPr sz="3000" spc="-10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(1</a:t>
            </a:r>
            <a:r>
              <a:rPr sz="3000" spc="-15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minute)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2842" y="4825619"/>
            <a:ext cx="235585" cy="228028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•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•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•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•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8188" y="6651256"/>
            <a:ext cx="6924040" cy="464820"/>
          </a:xfrm>
          <a:prstGeom prst="rect">
            <a:avLst/>
          </a:prstGeom>
          <a:solidFill>
            <a:srgbClr val="EAEE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9"/>
              </a:lnSpc>
            </a:pPr>
            <a:r>
              <a:rPr sz="3000" spc="-5" dirty="0">
                <a:solidFill>
                  <a:srgbClr val="15203E"/>
                </a:solidFill>
                <a:latin typeface="Consolas"/>
                <a:cs typeface="Consolas"/>
              </a:rPr>
              <a:t>Closing</a:t>
            </a: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spc="-5" dirty="0">
                <a:solidFill>
                  <a:srgbClr val="15203E"/>
                </a:solidFill>
                <a:latin typeface="Consolas"/>
                <a:cs typeface="Consolas"/>
              </a:rPr>
              <a:t>(30</a:t>
            </a:r>
            <a:r>
              <a:rPr sz="3000" dirty="0">
                <a:solidFill>
                  <a:srgbClr val="15203E"/>
                </a:solidFill>
                <a:latin typeface="Consolas"/>
                <a:cs typeface="Consolas"/>
              </a:rPr>
              <a:t> </a:t>
            </a:r>
            <a:r>
              <a:rPr sz="3000" spc="-5" dirty="0">
                <a:solidFill>
                  <a:srgbClr val="15203E"/>
                </a:solidFill>
                <a:latin typeface="Consolas"/>
                <a:cs typeface="Consolas"/>
              </a:rPr>
              <a:t>seconds)</a:t>
            </a:r>
            <a:endParaRPr sz="3000" dirty="0">
              <a:latin typeface="Consolas"/>
              <a:cs typeface="Consola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2292" y="7589518"/>
            <a:ext cx="2296667" cy="548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65675" y="471932"/>
            <a:ext cx="609028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85" dirty="0">
                <a:solidFill>
                  <a:srgbClr val="466ED5"/>
                </a:solidFill>
              </a:rPr>
              <a:t>Assessment</a:t>
            </a:r>
            <a:r>
              <a:rPr spc="5" dirty="0">
                <a:solidFill>
                  <a:srgbClr val="466ED5"/>
                </a:solidFill>
              </a:rPr>
              <a:t> </a:t>
            </a:r>
            <a:r>
              <a:rPr spc="90" dirty="0">
                <a:solidFill>
                  <a:srgbClr val="466ED5"/>
                </a:solidFill>
              </a:rPr>
              <a:t>Criteria</a:t>
            </a:r>
          </a:p>
        </p:txBody>
      </p:sp>
      <p:sp>
        <p:nvSpPr>
          <p:cNvPr id="4" name="object 4"/>
          <p:cNvSpPr/>
          <p:nvPr/>
        </p:nvSpPr>
        <p:spPr>
          <a:xfrm>
            <a:off x="245363" y="2007107"/>
            <a:ext cx="722630" cy="500380"/>
          </a:xfrm>
          <a:custGeom>
            <a:avLst/>
            <a:gdLst/>
            <a:ahLst/>
            <a:cxnLst/>
            <a:rect l="l" t="t" r="r" b="b"/>
            <a:pathLst>
              <a:path w="722630" h="500380">
                <a:moveTo>
                  <a:pt x="589076" y="0"/>
                </a:moveTo>
                <a:lnTo>
                  <a:pt x="133299" y="0"/>
                </a:lnTo>
                <a:lnTo>
                  <a:pt x="91165" y="6797"/>
                </a:lnTo>
                <a:lnTo>
                  <a:pt x="54573" y="25725"/>
                </a:lnTo>
                <a:lnTo>
                  <a:pt x="25718" y="54589"/>
                </a:lnTo>
                <a:lnTo>
                  <a:pt x="6795" y="91196"/>
                </a:lnTo>
                <a:lnTo>
                  <a:pt x="0" y="133350"/>
                </a:lnTo>
                <a:lnTo>
                  <a:pt x="0" y="366521"/>
                </a:lnTo>
                <a:lnTo>
                  <a:pt x="6795" y="408675"/>
                </a:lnTo>
                <a:lnTo>
                  <a:pt x="25718" y="445282"/>
                </a:lnTo>
                <a:lnTo>
                  <a:pt x="54573" y="474146"/>
                </a:lnTo>
                <a:lnTo>
                  <a:pt x="91165" y="493074"/>
                </a:lnTo>
                <a:lnTo>
                  <a:pt x="133299" y="499871"/>
                </a:lnTo>
                <a:lnTo>
                  <a:pt x="589076" y="499871"/>
                </a:lnTo>
                <a:lnTo>
                  <a:pt x="631210" y="493074"/>
                </a:lnTo>
                <a:lnTo>
                  <a:pt x="667802" y="474146"/>
                </a:lnTo>
                <a:lnTo>
                  <a:pt x="696657" y="445282"/>
                </a:lnTo>
                <a:lnTo>
                  <a:pt x="715580" y="408675"/>
                </a:lnTo>
                <a:lnTo>
                  <a:pt x="722376" y="366521"/>
                </a:lnTo>
                <a:lnTo>
                  <a:pt x="722376" y="133350"/>
                </a:lnTo>
                <a:lnTo>
                  <a:pt x="715580" y="91196"/>
                </a:lnTo>
                <a:lnTo>
                  <a:pt x="696657" y="54589"/>
                </a:lnTo>
                <a:lnTo>
                  <a:pt x="667802" y="25725"/>
                </a:lnTo>
                <a:lnTo>
                  <a:pt x="631210" y="6797"/>
                </a:lnTo>
                <a:lnTo>
                  <a:pt x="589076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4850" y="2020900"/>
            <a:ext cx="1828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5" dirty="0">
                <a:latin typeface="Georgia"/>
                <a:cs typeface="Georgia"/>
              </a:rPr>
              <a:t>1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208" y="1998726"/>
            <a:ext cx="3325697" cy="12008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00"/>
              </a:lnSpc>
              <a:spcBef>
                <a:spcPts val="100"/>
              </a:spcBef>
            </a:pPr>
            <a:r>
              <a:rPr sz="3000" b="1" spc="85" dirty="0">
                <a:solidFill>
                  <a:srgbClr val="1F4B8E"/>
                </a:solidFill>
                <a:latin typeface="Roboto"/>
                <a:cs typeface="Roboto"/>
              </a:rPr>
              <a:t>PRONUNCIA</a:t>
            </a:r>
            <a:r>
              <a:rPr lang="es-ES" sz="3000" b="1" spc="85" dirty="0">
                <a:solidFill>
                  <a:srgbClr val="1F4B8E"/>
                </a:solidFill>
                <a:latin typeface="Roboto"/>
                <a:cs typeface="Roboto"/>
              </a:rPr>
              <a:t>TI</a:t>
            </a:r>
            <a:r>
              <a:rPr sz="3000" b="1" spc="85" dirty="0">
                <a:solidFill>
                  <a:srgbClr val="1F4B8E"/>
                </a:solidFill>
                <a:latin typeface="Roboto"/>
                <a:cs typeface="Roboto"/>
              </a:rPr>
              <a:t>ON</a:t>
            </a:r>
            <a:endParaRPr sz="3000" dirty="0">
              <a:latin typeface="Roboto"/>
              <a:cs typeface="Roboto"/>
            </a:endParaRPr>
          </a:p>
          <a:p>
            <a:pPr marL="12700" marR="579120">
              <a:lnSpc>
                <a:spcPct val="78000"/>
              </a:lnSpc>
              <a:spcBef>
                <a:spcPts val="390"/>
              </a:spcBef>
            </a:pP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How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45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50" dirty="0">
                <a:solidFill>
                  <a:srgbClr val="15203E"/>
                </a:solidFill>
                <a:latin typeface="Roboto"/>
                <a:cs typeface="Roboto"/>
              </a:rPr>
              <a:t>say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a </a:t>
            </a:r>
            <a:r>
              <a:rPr sz="3000" spc="-7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40" dirty="0">
                <a:solidFill>
                  <a:srgbClr val="15203E"/>
                </a:solidFill>
                <a:latin typeface="Roboto"/>
                <a:cs typeface="Roboto"/>
              </a:rPr>
              <a:t>wo</a:t>
            </a:r>
            <a:r>
              <a:rPr lang="es-EC" sz="3000" spc="4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40" dirty="0">
                <a:solidFill>
                  <a:srgbClr val="15203E"/>
                </a:solidFill>
                <a:latin typeface="Roboto"/>
                <a:cs typeface="Roboto"/>
              </a:rPr>
              <a:t>d.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86071" y="2007107"/>
            <a:ext cx="751840" cy="500380"/>
          </a:xfrm>
          <a:custGeom>
            <a:avLst/>
            <a:gdLst/>
            <a:ahLst/>
            <a:cxnLst/>
            <a:rect l="l" t="t" r="r" b="b"/>
            <a:pathLst>
              <a:path w="751839" h="500380">
                <a:moveTo>
                  <a:pt x="617981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366521"/>
                </a:lnTo>
                <a:lnTo>
                  <a:pt x="6797" y="408675"/>
                </a:lnTo>
                <a:lnTo>
                  <a:pt x="25725" y="445282"/>
                </a:lnTo>
                <a:lnTo>
                  <a:pt x="54589" y="474146"/>
                </a:lnTo>
                <a:lnTo>
                  <a:pt x="91196" y="493074"/>
                </a:lnTo>
                <a:lnTo>
                  <a:pt x="133350" y="499871"/>
                </a:lnTo>
                <a:lnTo>
                  <a:pt x="617981" y="499871"/>
                </a:lnTo>
                <a:lnTo>
                  <a:pt x="660135" y="493074"/>
                </a:lnTo>
                <a:lnTo>
                  <a:pt x="696742" y="474146"/>
                </a:lnTo>
                <a:lnTo>
                  <a:pt x="725606" y="445282"/>
                </a:lnTo>
                <a:lnTo>
                  <a:pt x="744534" y="408675"/>
                </a:lnTo>
                <a:lnTo>
                  <a:pt x="751331" y="366521"/>
                </a:lnTo>
                <a:lnTo>
                  <a:pt x="751331" y="133350"/>
                </a:lnTo>
                <a:lnTo>
                  <a:pt x="744534" y="91196"/>
                </a:lnTo>
                <a:lnTo>
                  <a:pt x="725606" y="54589"/>
                </a:lnTo>
                <a:lnTo>
                  <a:pt x="696742" y="25725"/>
                </a:lnTo>
                <a:lnTo>
                  <a:pt x="660135" y="6797"/>
                </a:lnTo>
                <a:lnTo>
                  <a:pt x="617981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52009" y="2020900"/>
            <a:ext cx="2362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Georgia"/>
                <a:cs typeface="Georgia"/>
              </a:rPr>
              <a:t>2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8077" y="1998726"/>
            <a:ext cx="2468245" cy="119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00"/>
              </a:lnSpc>
              <a:spcBef>
                <a:spcPts val="100"/>
              </a:spcBef>
            </a:pPr>
            <a:r>
              <a:rPr lang="es-ES" sz="3000" b="1" spc="90" dirty="0">
                <a:solidFill>
                  <a:srgbClr val="1F4B8E"/>
                </a:solidFill>
                <a:latin typeface="Roboto"/>
                <a:cs typeface="Roboto"/>
              </a:rPr>
              <a:t>F</a:t>
            </a:r>
            <a:r>
              <a:rPr sz="3000" b="1" spc="90" dirty="0">
                <a:solidFill>
                  <a:srgbClr val="1F4B8E"/>
                </a:solidFill>
                <a:latin typeface="Roboto"/>
                <a:cs typeface="Roboto"/>
              </a:rPr>
              <a:t>LUENCY</a:t>
            </a:r>
            <a:endParaRPr sz="3000" dirty="0">
              <a:latin typeface="Roboto"/>
              <a:cs typeface="Roboto"/>
            </a:endParaRPr>
          </a:p>
          <a:p>
            <a:pPr marL="12700" marR="5080">
              <a:lnSpc>
                <a:spcPct val="78000"/>
              </a:lnSpc>
              <a:spcBef>
                <a:spcPts val="390"/>
              </a:spcBef>
            </a:pP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How</a:t>
            </a:r>
            <a:r>
              <a:rPr sz="3000" spc="-7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smoothly </a:t>
            </a:r>
            <a:r>
              <a:rPr sz="3000" spc="-7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50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speak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23276" y="2007107"/>
            <a:ext cx="741045" cy="500380"/>
          </a:xfrm>
          <a:custGeom>
            <a:avLst/>
            <a:gdLst/>
            <a:ahLst/>
            <a:cxnLst/>
            <a:rect l="l" t="t" r="r" b="b"/>
            <a:pathLst>
              <a:path w="741045" h="500380">
                <a:moveTo>
                  <a:pt x="607314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366521"/>
                </a:lnTo>
                <a:lnTo>
                  <a:pt x="6797" y="408675"/>
                </a:lnTo>
                <a:lnTo>
                  <a:pt x="25725" y="445282"/>
                </a:lnTo>
                <a:lnTo>
                  <a:pt x="54589" y="474146"/>
                </a:lnTo>
                <a:lnTo>
                  <a:pt x="91196" y="493074"/>
                </a:lnTo>
                <a:lnTo>
                  <a:pt x="133350" y="499871"/>
                </a:lnTo>
                <a:lnTo>
                  <a:pt x="607314" y="499871"/>
                </a:lnTo>
                <a:lnTo>
                  <a:pt x="649467" y="493074"/>
                </a:lnTo>
                <a:lnTo>
                  <a:pt x="686074" y="474146"/>
                </a:lnTo>
                <a:lnTo>
                  <a:pt x="714938" y="445282"/>
                </a:lnTo>
                <a:lnTo>
                  <a:pt x="733866" y="408675"/>
                </a:lnTo>
                <a:lnTo>
                  <a:pt x="740664" y="366521"/>
                </a:lnTo>
                <a:lnTo>
                  <a:pt x="740664" y="133350"/>
                </a:lnTo>
                <a:lnTo>
                  <a:pt x="733866" y="91196"/>
                </a:lnTo>
                <a:lnTo>
                  <a:pt x="714938" y="54589"/>
                </a:lnTo>
                <a:lnTo>
                  <a:pt x="686074" y="25725"/>
                </a:lnTo>
                <a:lnTo>
                  <a:pt x="649467" y="6797"/>
                </a:lnTo>
                <a:lnTo>
                  <a:pt x="607314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91245" y="2020900"/>
            <a:ext cx="2317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5" dirty="0">
                <a:latin typeface="Georgia"/>
                <a:cs typeface="Georgia"/>
              </a:rPr>
              <a:t>3</a:t>
            </a:r>
            <a:endParaRPr sz="300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0328" y="2384805"/>
            <a:ext cx="338327" cy="457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0328" y="3451859"/>
            <a:ext cx="338327" cy="4572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707628" y="1998726"/>
            <a:ext cx="5541772" cy="2272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00"/>
              </a:lnSpc>
              <a:spcBef>
                <a:spcPts val="100"/>
              </a:spcBef>
            </a:pPr>
            <a:r>
              <a:rPr sz="3000" b="1" spc="40" dirty="0">
                <a:solidFill>
                  <a:srgbClr val="1F4B8E"/>
                </a:solidFill>
                <a:latin typeface="Roboto"/>
                <a:cs typeface="Roboto"/>
              </a:rPr>
              <a:t>GRAMMAR</a:t>
            </a:r>
            <a:r>
              <a:rPr sz="3000" b="1" spc="-20" dirty="0">
                <a:solidFill>
                  <a:srgbClr val="1F4B8E"/>
                </a:solidFill>
                <a:latin typeface="Roboto"/>
                <a:cs typeface="Roboto"/>
              </a:rPr>
              <a:t> </a:t>
            </a:r>
            <a:r>
              <a:rPr sz="3000" b="1" spc="20" dirty="0">
                <a:solidFill>
                  <a:srgbClr val="1F4B8E"/>
                </a:solidFill>
                <a:latin typeface="Roboto"/>
                <a:cs typeface="Roboto"/>
              </a:rPr>
              <a:t>AND</a:t>
            </a:r>
            <a:r>
              <a:rPr sz="3000" b="1" spc="-15" dirty="0">
                <a:solidFill>
                  <a:srgbClr val="1F4B8E"/>
                </a:solidFill>
                <a:latin typeface="Roboto"/>
                <a:cs typeface="Roboto"/>
              </a:rPr>
              <a:t> </a:t>
            </a:r>
            <a:r>
              <a:rPr sz="3000" b="1" spc="10" dirty="0">
                <a:solidFill>
                  <a:srgbClr val="1F4B8E"/>
                </a:solidFill>
                <a:latin typeface="Roboto"/>
                <a:cs typeface="Roboto"/>
              </a:rPr>
              <a:t>VOCABULARY</a:t>
            </a:r>
            <a:endParaRPr sz="3000" dirty="0">
              <a:latin typeface="Roboto"/>
              <a:cs typeface="Roboto"/>
            </a:endParaRPr>
          </a:p>
          <a:p>
            <a:pPr marL="297180" marR="168910" indent="-21590">
              <a:lnSpc>
                <a:spcPct val="77900"/>
              </a:lnSpc>
              <a:spcBef>
                <a:spcPts val="390"/>
              </a:spcBef>
            </a:pPr>
            <a:r>
              <a:rPr sz="3000" spc="65" dirty="0">
                <a:solidFill>
                  <a:srgbClr val="15203E"/>
                </a:solidFill>
                <a:latin typeface="Roboto"/>
                <a:cs typeface="Roboto"/>
              </a:rPr>
              <a:t>G</a:t>
            </a:r>
            <a:r>
              <a:rPr lang="es-EC" sz="3000" spc="6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65" dirty="0" err="1">
                <a:solidFill>
                  <a:srgbClr val="15203E"/>
                </a:solidFill>
                <a:latin typeface="Roboto"/>
                <a:cs typeface="Roboto"/>
              </a:rPr>
              <a:t>amma</a:t>
            </a:r>
            <a:r>
              <a:rPr lang="es-EC" sz="3000" spc="6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6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3000" spc="10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100" dirty="0" err="1">
                <a:solidFill>
                  <a:srgbClr val="15203E"/>
                </a:solidFill>
                <a:latin typeface="Roboto"/>
                <a:cs typeface="Roboto"/>
              </a:rPr>
              <a:t>efe</a:t>
            </a:r>
            <a:r>
              <a:rPr lang="es-EC" sz="3000" spc="10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100" dirty="0">
                <a:solidFill>
                  <a:srgbClr val="15203E"/>
                </a:solidFill>
                <a:latin typeface="Roboto"/>
                <a:cs typeface="Roboto"/>
              </a:rPr>
              <a:t>s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to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how well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50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use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tenses,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spc="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5" dirty="0" err="1">
                <a:solidFill>
                  <a:srgbClr val="15203E"/>
                </a:solidFill>
                <a:latin typeface="Roboto"/>
                <a:cs typeface="Roboto"/>
              </a:rPr>
              <a:t>epositions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, </a:t>
            </a:r>
            <a:r>
              <a:rPr sz="3000" spc="-7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25" dirty="0" err="1">
                <a:solidFill>
                  <a:srgbClr val="15203E"/>
                </a:solidFill>
                <a:latin typeface="Roboto"/>
                <a:cs typeface="Roboto"/>
              </a:rPr>
              <a:t>ve</a:t>
            </a:r>
            <a:r>
              <a:rPr lang="es-EC" sz="3000" spc="2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25" dirty="0">
                <a:solidFill>
                  <a:srgbClr val="15203E"/>
                </a:solidFill>
                <a:latin typeface="Roboto"/>
                <a:cs typeface="Roboto"/>
              </a:rPr>
              <a:t>bs,</a:t>
            </a:r>
            <a:r>
              <a:rPr sz="3000" spc="-10" dirty="0">
                <a:solidFill>
                  <a:srgbClr val="15203E"/>
                </a:solidFill>
                <a:latin typeface="Roboto"/>
                <a:cs typeface="Roboto"/>
              </a:rPr>
              <a:t> etc.</a:t>
            </a:r>
            <a:endParaRPr sz="3000" dirty="0">
              <a:latin typeface="Roboto"/>
              <a:cs typeface="Roboto"/>
            </a:endParaRPr>
          </a:p>
          <a:p>
            <a:pPr marL="276225">
              <a:lnSpc>
                <a:spcPts val="2400"/>
              </a:lnSpc>
            </a:pPr>
            <a:r>
              <a:rPr sz="3000" spc="5" dirty="0" err="1">
                <a:solidFill>
                  <a:srgbClr val="15203E"/>
                </a:solidFill>
                <a:latin typeface="Roboto"/>
                <a:cs typeface="Roboto"/>
              </a:rPr>
              <a:t>Vocabula</a:t>
            </a:r>
            <a:r>
              <a:rPr lang="es-EC" sz="3000" spc="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y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3000" spc="10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100" dirty="0" err="1">
                <a:solidFill>
                  <a:srgbClr val="15203E"/>
                </a:solidFill>
                <a:latin typeface="Roboto"/>
                <a:cs typeface="Roboto"/>
              </a:rPr>
              <a:t>efe</a:t>
            </a:r>
            <a:r>
              <a:rPr lang="es-EC" sz="3000" spc="10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100" dirty="0">
                <a:solidFill>
                  <a:srgbClr val="15203E"/>
                </a:solidFill>
                <a:latin typeface="Roboto"/>
                <a:cs typeface="Roboto"/>
              </a:rPr>
              <a:t>s</a:t>
            </a:r>
            <a:r>
              <a:rPr sz="3000" spc="-5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to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how</a:t>
            </a:r>
            <a:endParaRPr sz="3000" dirty="0">
              <a:latin typeface="Roboto"/>
              <a:cs typeface="Roboto"/>
            </a:endParaRPr>
          </a:p>
          <a:p>
            <a:pPr marL="297180">
              <a:lnSpc>
                <a:spcPts val="3204"/>
              </a:lnSpc>
            </a:pP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much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5" dirty="0" err="1">
                <a:solidFill>
                  <a:srgbClr val="15203E"/>
                </a:solidFill>
                <a:latin typeface="Roboto"/>
                <a:cs typeface="Roboto"/>
              </a:rPr>
              <a:t>vocabula</a:t>
            </a:r>
            <a:r>
              <a:rPr lang="es-EC" sz="3000" spc="-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y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50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know.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8788" y="5321808"/>
            <a:ext cx="704215" cy="500380"/>
          </a:xfrm>
          <a:custGeom>
            <a:avLst/>
            <a:gdLst/>
            <a:ahLst/>
            <a:cxnLst/>
            <a:rect l="l" t="t" r="r" b="b"/>
            <a:pathLst>
              <a:path w="704215" h="500379">
                <a:moveTo>
                  <a:pt x="570788" y="0"/>
                </a:moveTo>
                <a:lnTo>
                  <a:pt x="133299" y="0"/>
                </a:lnTo>
                <a:lnTo>
                  <a:pt x="91165" y="6797"/>
                </a:lnTo>
                <a:lnTo>
                  <a:pt x="54573" y="25725"/>
                </a:lnTo>
                <a:lnTo>
                  <a:pt x="25718" y="54589"/>
                </a:lnTo>
                <a:lnTo>
                  <a:pt x="6795" y="91196"/>
                </a:lnTo>
                <a:lnTo>
                  <a:pt x="0" y="133350"/>
                </a:lnTo>
                <a:lnTo>
                  <a:pt x="0" y="366522"/>
                </a:lnTo>
                <a:lnTo>
                  <a:pt x="6795" y="408675"/>
                </a:lnTo>
                <a:lnTo>
                  <a:pt x="25718" y="445282"/>
                </a:lnTo>
                <a:lnTo>
                  <a:pt x="54573" y="474146"/>
                </a:lnTo>
                <a:lnTo>
                  <a:pt x="91165" y="493074"/>
                </a:lnTo>
                <a:lnTo>
                  <a:pt x="133299" y="499872"/>
                </a:lnTo>
                <a:lnTo>
                  <a:pt x="570788" y="499872"/>
                </a:lnTo>
                <a:lnTo>
                  <a:pt x="612922" y="493074"/>
                </a:lnTo>
                <a:lnTo>
                  <a:pt x="649514" y="474146"/>
                </a:lnTo>
                <a:lnTo>
                  <a:pt x="678369" y="445282"/>
                </a:lnTo>
                <a:lnTo>
                  <a:pt x="697292" y="408675"/>
                </a:lnTo>
                <a:lnTo>
                  <a:pt x="704088" y="366522"/>
                </a:lnTo>
                <a:lnTo>
                  <a:pt x="704088" y="133350"/>
                </a:lnTo>
                <a:lnTo>
                  <a:pt x="697292" y="91196"/>
                </a:lnTo>
                <a:lnTo>
                  <a:pt x="678369" y="54589"/>
                </a:lnTo>
                <a:lnTo>
                  <a:pt x="649514" y="25725"/>
                </a:lnTo>
                <a:lnTo>
                  <a:pt x="612922" y="6797"/>
                </a:lnTo>
                <a:lnTo>
                  <a:pt x="570788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73151" y="5337429"/>
            <a:ext cx="2463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0" dirty="0">
                <a:latin typeface="Georgia"/>
                <a:cs typeface="Georgia"/>
              </a:rPr>
              <a:t>4</a:t>
            </a:r>
            <a:endParaRPr sz="30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22908" y="5700648"/>
            <a:ext cx="338455" cy="1524635"/>
            <a:chOff x="1022908" y="5700648"/>
            <a:chExt cx="338455" cy="152463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908" y="5700648"/>
              <a:ext cx="338328" cy="457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908" y="6056960"/>
              <a:ext cx="338328" cy="4575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908" y="6412737"/>
              <a:ext cx="338328" cy="457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908" y="6767779"/>
              <a:ext cx="338328" cy="4572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10208" y="5314569"/>
            <a:ext cx="2886710" cy="190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1F4B8E"/>
                </a:solidFill>
                <a:latin typeface="Roboto"/>
                <a:cs typeface="Roboto"/>
              </a:rPr>
              <a:t>DELIVERY</a:t>
            </a:r>
            <a:endParaRPr sz="3000" dirty="0">
              <a:latin typeface="Roboto"/>
              <a:cs typeface="Roboto"/>
            </a:endParaRPr>
          </a:p>
          <a:p>
            <a:pPr marL="370205" marR="5080">
              <a:lnSpc>
                <a:spcPct val="78000"/>
              </a:lnSpc>
              <a:spcBef>
                <a:spcPts val="390"/>
              </a:spcBef>
            </a:pPr>
            <a:r>
              <a:rPr sz="3000" spc="-40" dirty="0">
                <a:solidFill>
                  <a:srgbClr val="15203E"/>
                </a:solidFill>
                <a:latin typeface="Roboto"/>
                <a:cs typeface="Roboto"/>
              </a:rPr>
              <a:t>Body 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language </a:t>
            </a:r>
            <a:r>
              <a:rPr sz="3000" spc="-73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35" dirty="0" err="1">
                <a:solidFill>
                  <a:srgbClr val="15203E"/>
                </a:solidFill>
                <a:latin typeface="Roboto"/>
                <a:cs typeface="Roboto"/>
              </a:rPr>
              <a:t>Atti</a:t>
            </a:r>
            <a:r>
              <a:rPr lang="es-EC" sz="3000" spc="3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35" dirty="0">
                <a:solidFill>
                  <a:srgbClr val="15203E"/>
                </a:solidFill>
                <a:latin typeface="Roboto"/>
                <a:cs typeface="Roboto"/>
              </a:rPr>
              <a:t>e</a:t>
            </a:r>
            <a:endParaRPr sz="3000" dirty="0">
              <a:latin typeface="Roboto"/>
              <a:cs typeface="Roboto"/>
            </a:endParaRPr>
          </a:p>
          <a:p>
            <a:pPr marL="370205" marR="658495">
              <a:lnSpc>
                <a:spcPct val="77700"/>
              </a:lnSpc>
            </a:pP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Visual</a:t>
            </a:r>
            <a:r>
              <a:rPr sz="3000" spc="-7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aids </a:t>
            </a:r>
            <a:r>
              <a:rPr sz="3000" spc="-7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S" sz="3000" spc="254" dirty="0">
                <a:solidFill>
                  <a:srgbClr val="15203E"/>
                </a:solidFill>
                <a:latin typeface="Roboto"/>
                <a:cs typeface="Roboto"/>
              </a:rPr>
              <a:t>T</a:t>
            </a:r>
            <a:r>
              <a:rPr sz="3000" spc="254" dirty="0" err="1">
                <a:solidFill>
                  <a:srgbClr val="15203E"/>
                </a:solidFill>
                <a:latin typeface="Roboto"/>
                <a:cs typeface="Roboto"/>
              </a:rPr>
              <a:t>ime</a:t>
            </a:r>
            <a:r>
              <a:rPr sz="3000" spc="-3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limit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86200" y="5321808"/>
            <a:ext cx="751840" cy="500380"/>
          </a:xfrm>
          <a:custGeom>
            <a:avLst/>
            <a:gdLst/>
            <a:ahLst/>
            <a:cxnLst/>
            <a:rect l="l" t="t" r="r" b="b"/>
            <a:pathLst>
              <a:path w="751839" h="500379">
                <a:moveTo>
                  <a:pt x="617982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366522"/>
                </a:lnTo>
                <a:lnTo>
                  <a:pt x="6797" y="408675"/>
                </a:lnTo>
                <a:lnTo>
                  <a:pt x="25725" y="445282"/>
                </a:lnTo>
                <a:lnTo>
                  <a:pt x="54589" y="474146"/>
                </a:lnTo>
                <a:lnTo>
                  <a:pt x="91196" y="493074"/>
                </a:lnTo>
                <a:lnTo>
                  <a:pt x="133350" y="499872"/>
                </a:lnTo>
                <a:lnTo>
                  <a:pt x="617982" y="499872"/>
                </a:lnTo>
                <a:lnTo>
                  <a:pt x="660135" y="493074"/>
                </a:lnTo>
                <a:lnTo>
                  <a:pt x="696742" y="474146"/>
                </a:lnTo>
                <a:lnTo>
                  <a:pt x="725606" y="445282"/>
                </a:lnTo>
                <a:lnTo>
                  <a:pt x="744534" y="408675"/>
                </a:lnTo>
                <a:lnTo>
                  <a:pt x="751332" y="366522"/>
                </a:lnTo>
                <a:lnTo>
                  <a:pt x="751332" y="133350"/>
                </a:lnTo>
                <a:lnTo>
                  <a:pt x="744534" y="91196"/>
                </a:lnTo>
                <a:lnTo>
                  <a:pt x="725606" y="54589"/>
                </a:lnTo>
                <a:lnTo>
                  <a:pt x="696742" y="25725"/>
                </a:lnTo>
                <a:lnTo>
                  <a:pt x="660135" y="6797"/>
                </a:lnTo>
                <a:lnTo>
                  <a:pt x="617982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186808" y="5337429"/>
            <a:ext cx="2266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Georgia"/>
                <a:cs typeface="Georgia"/>
              </a:rPr>
              <a:t>5</a:t>
            </a:r>
            <a:endParaRPr sz="3000">
              <a:latin typeface="Georgia"/>
              <a:cs typeface="Georg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737481" y="5700648"/>
            <a:ext cx="338455" cy="1524635"/>
            <a:chOff x="4999609" y="5700648"/>
            <a:chExt cx="338455" cy="152463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609" y="5700648"/>
              <a:ext cx="338327" cy="4572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609" y="6056960"/>
              <a:ext cx="338327" cy="4575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609" y="6412737"/>
              <a:ext cx="338327" cy="457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609" y="6767779"/>
              <a:ext cx="338327" cy="4572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724779" y="5314569"/>
            <a:ext cx="4001644" cy="20749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00"/>
              </a:lnSpc>
              <a:spcBef>
                <a:spcPts val="100"/>
              </a:spcBef>
            </a:pPr>
            <a:r>
              <a:rPr sz="3000" b="1" spc="225" dirty="0">
                <a:solidFill>
                  <a:srgbClr val="1F4B8E"/>
                </a:solidFill>
                <a:latin typeface="Roboto"/>
                <a:cs typeface="Roboto"/>
              </a:rPr>
              <a:t>S</a:t>
            </a:r>
            <a:r>
              <a:rPr lang="es-ES" sz="3000" b="1" spc="225" dirty="0">
                <a:solidFill>
                  <a:srgbClr val="1F4B8E"/>
                </a:solidFill>
                <a:latin typeface="Roboto"/>
                <a:cs typeface="Roboto"/>
              </a:rPr>
              <a:t>T</a:t>
            </a:r>
            <a:r>
              <a:rPr sz="3000" b="1" spc="225" dirty="0">
                <a:solidFill>
                  <a:srgbClr val="1F4B8E"/>
                </a:solidFill>
                <a:latin typeface="Roboto"/>
                <a:cs typeface="Roboto"/>
              </a:rPr>
              <a:t>RUC</a:t>
            </a:r>
            <a:r>
              <a:rPr lang="es-ES" sz="3000" b="1" spc="225" dirty="0">
                <a:solidFill>
                  <a:srgbClr val="1F4B8E"/>
                </a:solidFill>
                <a:latin typeface="Roboto"/>
                <a:cs typeface="Roboto"/>
              </a:rPr>
              <a:t>T</a:t>
            </a:r>
            <a:r>
              <a:rPr sz="3000" b="1" spc="225" dirty="0">
                <a:solidFill>
                  <a:srgbClr val="1F4B8E"/>
                </a:solidFill>
                <a:latin typeface="Roboto"/>
                <a:cs typeface="Roboto"/>
              </a:rPr>
              <a:t>URE</a:t>
            </a:r>
            <a:endParaRPr lang="es-EC" sz="3000" dirty="0">
              <a:latin typeface="Roboto"/>
              <a:cs typeface="Roboto"/>
            </a:endParaRPr>
          </a:p>
          <a:p>
            <a:pPr marL="370205" marR="5080" indent="-94615">
              <a:lnSpc>
                <a:spcPct val="77800"/>
              </a:lnSpc>
              <a:spcBef>
                <a:spcPts val="395"/>
              </a:spcBef>
            </a:pPr>
            <a:r>
              <a:rPr lang="es-EC" sz="3000" spc="25" dirty="0" err="1">
                <a:solidFill>
                  <a:srgbClr val="15203E"/>
                </a:solidFill>
                <a:latin typeface="Roboto"/>
                <a:cs typeface="Roboto"/>
              </a:rPr>
              <a:t>Intr</a:t>
            </a:r>
            <a:r>
              <a:rPr lang="es-EC" sz="3000" spc="45" dirty="0" err="1">
                <a:solidFill>
                  <a:srgbClr val="15203E"/>
                </a:solidFill>
                <a:latin typeface="Roboto"/>
                <a:cs typeface="Roboto"/>
              </a:rPr>
              <a:t>o</a:t>
            </a:r>
            <a:r>
              <a:rPr lang="es-EC" sz="3000" spc="-30" dirty="0" err="1">
                <a:solidFill>
                  <a:srgbClr val="15203E"/>
                </a:solidFill>
                <a:latin typeface="Roboto"/>
                <a:cs typeface="Roboto"/>
              </a:rPr>
              <a:t>duct</a:t>
            </a:r>
            <a:r>
              <a:rPr lang="es-EC" sz="3000" spc="-10" dirty="0" err="1">
                <a:solidFill>
                  <a:srgbClr val="15203E"/>
                </a:solidFill>
                <a:latin typeface="Roboto"/>
                <a:cs typeface="Roboto"/>
              </a:rPr>
              <a:t>i</a:t>
            </a:r>
            <a:r>
              <a:rPr lang="es-EC" sz="3000" spc="-25" dirty="0" err="1">
                <a:solidFill>
                  <a:srgbClr val="15203E"/>
                </a:solidFill>
                <a:latin typeface="Roboto"/>
                <a:cs typeface="Roboto"/>
              </a:rPr>
              <a:t>on</a:t>
            </a:r>
            <a:r>
              <a:rPr lang="es-EC" sz="3000" spc="-25" dirty="0">
                <a:solidFill>
                  <a:srgbClr val="15203E"/>
                </a:solidFill>
                <a:latin typeface="Roboto"/>
                <a:cs typeface="Roboto"/>
              </a:rPr>
              <a:t>  </a:t>
            </a:r>
          </a:p>
          <a:p>
            <a:pPr marL="370205" marR="5080" indent="-94615">
              <a:lnSpc>
                <a:spcPct val="77800"/>
              </a:lnSpc>
              <a:spcBef>
                <a:spcPts val="395"/>
              </a:spcBef>
            </a:pPr>
            <a:r>
              <a:rPr lang="es-EC" sz="3000" spc="-25" dirty="0" err="1">
                <a:solidFill>
                  <a:srgbClr val="15203E"/>
                </a:solidFill>
                <a:latin typeface="Roboto"/>
                <a:cs typeface="Roboto"/>
              </a:rPr>
              <a:t>Problem</a:t>
            </a:r>
            <a:r>
              <a:rPr lang="es-EC" sz="30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3000" spc="-25" dirty="0" err="1">
                <a:solidFill>
                  <a:srgbClr val="15203E"/>
                </a:solidFill>
                <a:latin typeface="Roboto"/>
                <a:cs typeface="Roboto"/>
              </a:rPr>
              <a:t>explanation</a:t>
            </a:r>
            <a:endParaRPr lang="es-EC" sz="3000" spc="-25" dirty="0">
              <a:solidFill>
                <a:srgbClr val="15203E"/>
              </a:solidFill>
              <a:latin typeface="Roboto"/>
              <a:cs typeface="Roboto"/>
            </a:endParaRPr>
          </a:p>
          <a:p>
            <a:pPr marL="370205" marR="5080" indent="-94615">
              <a:lnSpc>
                <a:spcPct val="77800"/>
              </a:lnSpc>
              <a:spcBef>
                <a:spcPts val="395"/>
              </a:spcBef>
            </a:pPr>
            <a:r>
              <a:rPr lang="es-EC" sz="3000" spc="-25" dirty="0" err="1">
                <a:solidFill>
                  <a:srgbClr val="15203E"/>
                </a:solidFill>
                <a:latin typeface="Roboto"/>
                <a:cs typeface="Roboto"/>
              </a:rPr>
              <a:t>Proposed</a:t>
            </a:r>
            <a:r>
              <a:rPr lang="es-EC" sz="30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3000" spc="-25" dirty="0" err="1">
                <a:solidFill>
                  <a:srgbClr val="15203E"/>
                </a:solidFill>
                <a:latin typeface="Roboto"/>
                <a:cs typeface="Roboto"/>
              </a:rPr>
              <a:t>solutions</a:t>
            </a:r>
            <a:endParaRPr lang="es-EC" sz="3000" spc="-25" dirty="0">
              <a:solidFill>
                <a:srgbClr val="15203E"/>
              </a:solidFill>
              <a:latin typeface="Roboto"/>
              <a:cs typeface="Roboto"/>
            </a:endParaRPr>
          </a:p>
          <a:p>
            <a:pPr marL="370205" marR="5080" indent="-94615">
              <a:lnSpc>
                <a:spcPct val="77800"/>
              </a:lnSpc>
              <a:spcBef>
                <a:spcPts val="395"/>
              </a:spcBef>
            </a:pP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Closing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97570" y="5321808"/>
            <a:ext cx="722630" cy="500380"/>
          </a:xfrm>
          <a:custGeom>
            <a:avLst/>
            <a:gdLst/>
            <a:ahLst/>
            <a:cxnLst/>
            <a:rect l="l" t="t" r="r" b="b"/>
            <a:pathLst>
              <a:path w="722629" h="500379">
                <a:moveTo>
                  <a:pt x="589026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366522"/>
                </a:lnTo>
                <a:lnTo>
                  <a:pt x="6797" y="408675"/>
                </a:lnTo>
                <a:lnTo>
                  <a:pt x="25725" y="445282"/>
                </a:lnTo>
                <a:lnTo>
                  <a:pt x="54589" y="474146"/>
                </a:lnTo>
                <a:lnTo>
                  <a:pt x="91196" y="493074"/>
                </a:lnTo>
                <a:lnTo>
                  <a:pt x="133350" y="499872"/>
                </a:lnTo>
                <a:lnTo>
                  <a:pt x="589026" y="499872"/>
                </a:lnTo>
                <a:lnTo>
                  <a:pt x="631179" y="493074"/>
                </a:lnTo>
                <a:lnTo>
                  <a:pt x="667786" y="474146"/>
                </a:lnTo>
                <a:lnTo>
                  <a:pt x="696650" y="445282"/>
                </a:lnTo>
                <a:lnTo>
                  <a:pt x="715578" y="408675"/>
                </a:lnTo>
                <a:lnTo>
                  <a:pt x="722376" y="366522"/>
                </a:lnTo>
                <a:lnTo>
                  <a:pt x="722376" y="133350"/>
                </a:lnTo>
                <a:lnTo>
                  <a:pt x="715578" y="91196"/>
                </a:lnTo>
                <a:lnTo>
                  <a:pt x="696650" y="54589"/>
                </a:lnTo>
                <a:lnTo>
                  <a:pt x="667786" y="25725"/>
                </a:lnTo>
                <a:lnTo>
                  <a:pt x="631179" y="6797"/>
                </a:lnTo>
                <a:lnTo>
                  <a:pt x="589026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487663" y="5337429"/>
            <a:ext cx="2387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Georgia"/>
                <a:cs typeface="Georgia"/>
              </a:rPr>
              <a:t>6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287510" y="5216397"/>
            <a:ext cx="4580890" cy="18484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000" b="1" spc="305" dirty="0">
                <a:solidFill>
                  <a:srgbClr val="1F4B8E"/>
                </a:solidFill>
                <a:latin typeface="Roboto"/>
                <a:cs typeface="Roboto"/>
              </a:rPr>
              <a:t>CON</a:t>
            </a:r>
            <a:r>
              <a:rPr lang="es-ES" sz="3000" b="1" spc="305" dirty="0">
                <a:solidFill>
                  <a:srgbClr val="1F4B8E"/>
                </a:solidFill>
                <a:latin typeface="Roboto"/>
                <a:cs typeface="Roboto"/>
              </a:rPr>
              <a:t>T</a:t>
            </a:r>
            <a:r>
              <a:rPr sz="3000" b="1" spc="305" dirty="0">
                <a:solidFill>
                  <a:srgbClr val="1F4B8E"/>
                </a:solidFill>
                <a:latin typeface="Roboto"/>
                <a:cs typeface="Roboto"/>
              </a:rPr>
              <a:t>EN</a:t>
            </a:r>
            <a:r>
              <a:rPr lang="es-ES" sz="3000" b="1" spc="305" dirty="0">
                <a:solidFill>
                  <a:srgbClr val="1F4B8E"/>
                </a:solidFill>
                <a:latin typeface="Roboto"/>
                <a:cs typeface="Roboto"/>
              </a:rPr>
              <a:t>T</a:t>
            </a:r>
            <a:endParaRPr sz="3000" dirty="0">
              <a:latin typeface="Roboto"/>
              <a:cs typeface="Roboto"/>
            </a:endParaRPr>
          </a:p>
          <a:p>
            <a:pPr marL="12700" marR="5080" algn="just">
              <a:lnSpc>
                <a:spcPct val="77900"/>
              </a:lnSpc>
              <a:spcBef>
                <a:spcPts val="1570"/>
              </a:spcBef>
            </a:pP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Content </a:t>
            </a:r>
            <a:r>
              <a:rPr sz="3000" spc="5" dirty="0" err="1">
                <a:solidFill>
                  <a:srgbClr val="15203E"/>
                </a:solidFill>
                <a:latin typeface="Roboto"/>
                <a:cs typeface="Roboto"/>
              </a:rPr>
              <a:t>demonst</a:t>
            </a:r>
            <a:r>
              <a:rPr lang="es-EC" sz="3000" spc="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5" dirty="0" err="1">
                <a:solidFill>
                  <a:srgbClr val="15203E"/>
                </a:solidFill>
                <a:latin typeface="Roboto"/>
                <a:cs typeface="Roboto"/>
              </a:rPr>
              <a:t>ates</a:t>
            </a:r>
            <a:r>
              <a:rPr sz="3000" spc="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40" dirty="0">
                <a:solidFill>
                  <a:srgbClr val="15203E"/>
                </a:solidFill>
                <a:latin typeface="Roboto"/>
                <a:cs typeface="Roboto"/>
              </a:rPr>
              <a:t>that </a:t>
            </a:r>
            <a:r>
              <a:rPr sz="3000" spc="-73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the student </a:t>
            </a:r>
            <a:r>
              <a:rPr lang="es-EC" sz="3000" spc="4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45" dirty="0" err="1">
                <a:solidFill>
                  <a:srgbClr val="15203E"/>
                </a:solidFill>
                <a:latin typeface="Roboto"/>
                <a:cs typeface="Roboto"/>
              </a:rPr>
              <a:t>esea</a:t>
            </a:r>
            <a:r>
              <a:rPr lang="es-EC" sz="3000" spc="4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45" dirty="0" err="1">
                <a:solidFill>
                  <a:srgbClr val="15203E"/>
                </a:solidFill>
                <a:latin typeface="Roboto"/>
                <a:cs typeface="Roboto"/>
              </a:rPr>
              <a:t>ched</a:t>
            </a:r>
            <a:r>
              <a:rPr sz="3000" spc="4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the </a:t>
            </a:r>
            <a:r>
              <a:rPr sz="3000" spc="-73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15" dirty="0">
                <a:solidFill>
                  <a:srgbClr val="15203E"/>
                </a:solidFill>
                <a:latin typeface="Roboto"/>
                <a:cs typeface="Roboto"/>
              </a:rPr>
              <a:t>topic</a:t>
            </a:r>
            <a:r>
              <a:rPr sz="3000" spc="-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105" dirty="0" err="1">
                <a:solidFill>
                  <a:srgbClr val="15203E"/>
                </a:solidFill>
                <a:latin typeface="Roboto"/>
                <a:cs typeface="Roboto"/>
              </a:rPr>
              <a:t>fo</a:t>
            </a:r>
            <a:r>
              <a:rPr lang="es-EC" sz="3000" spc="105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sz="3000" spc="-20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300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3000" dirty="0" err="1">
                <a:solidFill>
                  <a:srgbClr val="15203E"/>
                </a:solidFill>
                <a:latin typeface="Roboto"/>
                <a:cs typeface="Roboto"/>
              </a:rPr>
              <a:t>esentation</a:t>
            </a:r>
            <a:r>
              <a:rPr sz="3000" dirty="0">
                <a:solidFill>
                  <a:srgbClr val="15203E"/>
                </a:solidFill>
                <a:latin typeface="Roboto"/>
                <a:cs typeface="Roboto"/>
              </a:rPr>
              <a:t>.</a:t>
            </a:r>
            <a:endParaRPr sz="3000" dirty="0">
              <a:latin typeface="Roboto"/>
              <a:cs typeface="Roboto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78868" y="7830310"/>
            <a:ext cx="2351531" cy="399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2772" y="1162050"/>
            <a:ext cx="5610547" cy="5991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480</Words>
  <Application>Microsoft Office PowerPoint</Application>
  <PresentationFormat>Personalizado</PresentationFormat>
  <Paragraphs>85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Calibri</vt:lpstr>
      <vt:lpstr>Consolas</vt:lpstr>
      <vt:lpstr>Georgia</vt:lpstr>
      <vt:lpstr>Roboto</vt:lpstr>
      <vt:lpstr>Office Theme</vt:lpstr>
      <vt:lpstr>Presentación de PowerPoint</vt:lpstr>
      <vt:lpstr>Presentación de PowerPoint</vt:lpstr>
      <vt:lpstr>OUTLINE of a PROBLEM-SOLVING  PRESENTATION</vt:lpstr>
      <vt:lpstr>1. Introduction (30'')</vt:lpstr>
      <vt:lpstr>2. Problem explanation (1')</vt:lpstr>
      <vt:lpstr>3. Proposed solutions (1')</vt:lpstr>
      <vt:lpstr>4. Closing (30'')</vt:lpstr>
      <vt:lpstr>Time Distribution</vt:lpstr>
      <vt:lpstr>Assessment Criteria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Jimena Elizabeth Rivadeneira Mora</cp:lastModifiedBy>
  <cp:revision>3</cp:revision>
  <dcterms:created xsi:type="dcterms:W3CDTF">2024-10-23T14:36:44Z</dcterms:created>
  <dcterms:modified xsi:type="dcterms:W3CDTF">2025-03-17T17:11:22Z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2024-10-23T00:00:00Z</vt:filetime>
  </property>
</Properties>
</file>